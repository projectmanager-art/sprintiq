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  <p:defaultTextStyle>
    <a:defPPr>
      <a:defRPr lang="en-GB"/>
    </a:defPPr>
    <a:lvl1pPr marL="0" algn="l" defTabSz="914400" rtl="0">
      <a:defRPr sz="1200">
        <a:latin typeface="Segoe UI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00" Type="http://schemas.openxmlformats.org/officeDocument/2006/relationships/presProps" Target="presProps.xml"/><Relationship Id="rId101" Type="http://schemas.openxmlformats.org/officeDocument/2006/relationships/viewProps" Target="viewProps.xml"/><Relationship Id="rId102" Type="http://schemas.openxmlformats.org/officeDocument/2006/relationships/tableStyles" Target="tableStyles.xml"/><Relationship Id="rId103" Type="http://schemas.openxmlformats.org/officeDocument/2006/relationships/theme" Target="theme/theme1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chart1_data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chart2_data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chart3_data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chart4_data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chart5_data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chart6_data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chart7_data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chart8_data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chart9_data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lang="en-GB" sz="1200" b="1">
                <a:solidFill>
                  <a:srgbClr val="0F172A"/>
                </a:solidFill>
                <a:latin typeface="Segoe UI"/>
              </a:rPr>
              <a:t>Invoiced vs Collected vs Outstanding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GBP</c:v>
                </c:pt>
              </c:strCache>
            </c:strRef>
          </c:tx>
          <c:spPr>
            <a:solidFill>
              <a:srgbClr val="1E40AF"/>
            </a:solidFill>
          </c:spPr>
          <c:dPt>
            <c:idx val="0"/>
            <c:bubble3D val="0"/>
            <c:spPr>
              <a:solidFill>
                <a:srgbClr val="1E40AF"/>
              </a:solidFill>
            </c:spPr>
          </c:dPt>
          <c:dPt>
            <c:idx val="1"/>
            <c:bubble3D val="0"/>
            <c:spPr>
              <a:solidFill>
                <a:srgbClr val="15803D"/>
              </a:solidFill>
            </c:spPr>
          </c:dPt>
          <c:dPt>
            <c:idx val="2"/>
            <c:bubble3D val="0"/>
            <c:spPr>
              <a:solidFill>
                <a:srgbClr val="B91C1C"/>
              </a:solidFill>
            </c:spPr>
          </c:dPt>
          <c:dLbls>
            <c:numFmt formatCode="£#,##0" sourceLinked="0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Invoiced (gross)</c:v>
                </c:pt>
                <c:pt idx="1">
                  <c:v>Collected</c:v>
                </c:pt>
                <c:pt idx="2">
                  <c:v>Outstanding</c:v>
                </c:pt>
              </c:strCache>
            </c:strRef>
          </c:cat>
          <c:val>
            <c:numRef>
              <c:f>Sheet1!$B$2:$B$4</c:f>
              <c:numCache>
                <c:formatCode>£#,##0</c:formatCode>
                <c:ptCount val="3"/>
                <c:pt idx="0">
                  <c:v>39049.2</c:v>
                </c:pt>
                <c:pt idx="1">
                  <c:v>32834.4</c:v>
                </c:pt>
                <c:pt idx="2">
                  <c:v>6214.8</c:v>
                </c:pt>
              </c:numCache>
            </c:numRef>
          </c:val>
        </c:ser>
        <c:gapWidth val="80"/>
        <c:axId val="100000001"/>
        <c:axId val="100000002"/>
      </c:barChart>
      <c:catAx>
        <c:axId val="100000001"/>
        <c:scaling>
          <c:orientation val="minMax"/>
        </c:scaling>
        <c:delete val="0"/>
        <c:axPos val="b"/>
        <c:maj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2"/>
        <c:crosses val="autoZero"/>
        <c:auto val="1"/>
        <c:lblAlgn val="ctr"/>
        <c:lblOffset val="100"/>
      </c:catAx>
      <c:valAx>
        <c:axId val="10000000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£#,##0" sourceLinked="0"/>
        <c:maj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1"/>
        <c:crosses val="autoZero"/>
      </c:valAx>
    </c:plotArea>
    <c:plotVisOnly val="1"/>
    <c:dispBlanksAs val="gap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lang="en-GB" sz="1200" b="1">
                <a:solidFill>
                  <a:srgbClr val="0F172A"/>
                </a:solidFill>
                <a:latin typeface="Segoe UI"/>
              </a:rPr>
              <a:t>Invoiced vs Collected vs Outstanding by Year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Invoiced</c:v>
                </c:pt>
              </c:strCache>
            </c:strRef>
          </c:tx>
          <c:spPr>
            <a:solidFill>
              <a:srgbClr val="1E40AF"/>
            </a:solidFill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£#,##0</c:formatCode>
                <c:ptCount val="4"/>
                <c:pt idx="0">
                  <c:v>474</c:v>
                </c:pt>
                <c:pt idx="1">
                  <c:v>11338.8</c:v>
                </c:pt>
                <c:pt idx="2">
                  <c:v>14566.8</c:v>
                </c:pt>
                <c:pt idx="3">
                  <c:v>12669.6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Collected</c:v>
                </c:pt>
              </c:strCache>
            </c:strRef>
          </c:tx>
          <c:spPr>
            <a:solidFill>
              <a:srgbClr val="15803D"/>
            </a:solidFill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Sheet1!$C$2:$C$5</c:f>
              <c:numCache>
                <c:formatCode>£#,##0</c:formatCode>
                <c:ptCount val="4"/>
                <c:pt idx="0">
                  <c:v>474</c:v>
                </c:pt>
                <c:pt idx="1">
                  <c:v>11338.8</c:v>
                </c:pt>
                <c:pt idx="2">
                  <c:v>14566.8</c:v>
                </c:pt>
                <c:pt idx="3">
                  <c:v>6454.8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Outstanding</c:v>
                </c:pt>
              </c:strCache>
            </c:strRef>
          </c:tx>
          <c:spPr>
            <a:solidFill>
              <a:srgbClr val="B91C1C"/>
            </a:solidFill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Sheet1!$D$2:$D$5</c:f>
              <c:numCache>
                <c:formatCode>£#,##0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6214.8</c:v>
                </c:pt>
              </c:numCache>
            </c:numRef>
          </c:val>
        </c:ser>
        <c:gapWidth val="80"/>
        <c:axId val="100000001"/>
        <c:axId val="100000002"/>
      </c:barChart>
      <c:catAx>
        <c:axId val="100000001"/>
        <c:scaling>
          <c:orientation val="minMax"/>
        </c:scaling>
        <c:delete val="0"/>
        <c:axPos val="b"/>
        <c:maj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2"/>
        <c:crosses val="autoZero"/>
        <c:auto val="1"/>
        <c:lblAlgn val="ctr"/>
        <c:lblOffset val="100"/>
      </c:catAx>
      <c:valAx>
        <c:axId val="10000000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£#,##0" sourceLinked="0"/>
        <c:maj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1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475569"/>
              </a:solidFill>
              <a:latin typeface="Segoe UI"/>
            </a:defRPr>
          </a:pPr>
          <a:endParaRPr lang="en-GB"/>
        </a:p>
      </c:txPr>
    </c:legend>
    <c:plotVisOnly val="1"/>
    <c:dispBlanksAs val="gap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lang="en-GB" sz="1200" b="1">
                <a:solidFill>
                  <a:srgbClr val="0F172A"/>
                </a:solidFill>
                <a:latin typeface="Segoe UI"/>
              </a:rPr>
              <a:t>New Projects &amp; New Clients per Year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Projects</c:v>
                </c:pt>
              </c:strCache>
            </c:strRef>
          </c:tx>
          <c:spPr>
            <a:solidFill>
              <a:srgbClr val="B45309"/>
            </a:solidFill>
          </c:spPr>
          <c:dLbls>
            <c:numFmt formatCode="0" sourceLinked="0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1</c:v>
                </c:pt>
                <c:pt idx="1">
                  <c:v>6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New Clients</c:v>
                </c:pt>
              </c:strCache>
            </c:strRef>
          </c:tx>
          <c:spPr>
            <a:solidFill>
              <a:srgbClr val="0D9488"/>
            </a:solidFill>
          </c:spPr>
          <c:dLbls>
            <c:numFmt formatCode="0" sourceLinked="0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1</c:v>
                </c:pt>
                <c:pt idx="1">
                  <c:v>3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gapWidth val="80"/>
        <c:axId val="100000001"/>
        <c:axId val="100000002"/>
      </c:barChart>
      <c:catAx>
        <c:axId val="100000001"/>
        <c:scaling>
          <c:orientation val="minMax"/>
        </c:scaling>
        <c:delete val="0"/>
        <c:axPos val="b"/>
        <c:maj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2"/>
        <c:crosses val="autoZero"/>
        <c:auto val="1"/>
        <c:lblAlgn val="ctr"/>
        <c:lblOffset val="100"/>
      </c:catAx>
      <c:valAx>
        <c:axId val="10000000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0" sourceLinked="0"/>
        <c:maj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1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475569"/>
              </a:solidFill>
              <a:latin typeface="Segoe UI"/>
            </a:defRPr>
          </a:pPr>
          <a:endParaRPr lang="en-GB"/>
        </a:p>
      </c:txPr>
    </c:legend>
    <c:plotVisOnly val="1"/>
    <c:dispBlanksAs val="gap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lang="en-GB" sz="1200" b="1">
                <a:solidFill>
                  <a:srgbClr val="0F172A"/>
                </a:solidFill>
                <a:latin typeface="Segoe UI"/>
              </a:rPr>
              <a:t>Service Line Comparison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Invoiced</c:v>
                </c:pt>
              </c:strCache>
            </c:strRef>
          </c:tx>
          <c:spPr>
            <a:solidFill>
              <a:srgbClr val="1E40AF"/>
            </a:solidFill>
          </c:spPr>
          <c:cat>
            <c:strRef>
              <c:f>Sheet1!$A$2:$A$3</c:f>
              <c:strCache>
                <c:ptCount val="2"/>
                <c:pt idx="0">
                  <c:v>SEO</c:v>
                </c:pt>
                <c:pt idx="1">
                  <c:v>Development</c:v>
                </c:pt>
              </c:strCache>
            </c:strRef>
          </c:cat>
          <c:val>
            <c:numRef>
              <c:f>Sheet1!$B$2:$B$3</c:f>
              <c:numCache>
                <c:formatCode>£#,##0</c:formatCode>
                <c:ptCount val="2"/>
                <c:pt idx="0">
                  <c:v>33678</c:v>
                </c:pt>
                <c:pt idx="1">
                  <c:v>5371.2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Paid</c:v>
                </c:pt>
              </c:strCache>
            </c:strRef>
          </c:tx>
          <c:spPr>
            <a:solidFill>
              <a:srgbClr val="15803D"/>
            </a:solidFill>
          </c:spPr>
          <c:cat>
            <c:strRef>
              <c:f>Sheet1!$A$2:$A$3</c:f>
              <c:strCache>
                <c:ptCount val="2"/>
                <c:pt idx="0">
                  <c:v>SEO</c:v>
                </c:pt>
                <c:pt idx="1">
                  <c:v>Development</c:v>
                </c:pt>
              </c:strCache>
            </c:strRef>
          </c:cat>
          <c:val>
            <c:numRef>
              <c:f>Sheet1!$C$2:$C$3</c:f>
              <c:numCache>
                <c:formatCode>£#,##0</c:formatCode>
                <c:ptCount val="2"/>
                <c:pt idx="0">
                  <c:v>28182</c:v>
                </c:pt>
                <c:pt idx="1">
                  <c:v>4652.4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Outstanding</c:v>
                </c:pt>
              </c:strCache>
            </c:strRef>
          </c:tx>
          <c:spPr>
            <a:solidFill>
              <a:srgbClr val="B91C1C"/>
            </a:solidFill>
          </c:spPr>
          <c:cat>
            <c:strRef>
              <c:f>Sheet1!$A$2:$A$3</c:f>
              <c:strCache>
                <c:ptCount val="2"/>
                <c:pt idx="0">
                  <c:v>SEO</c:v>
                </c:pt>
                <c:pt idx="1">
                  <c:v>Development</c:v>
                </c:pt>
              </c:strCache>
            </c:strRef>
          </c:cat>
          <c:val>
            <c:numRef>
              <c:f>Sheet1!$D$2:$D$3</c:f>
              <c:numCache>
                <c:formatCode>£#,##0</c:formatCode>
                <c:ptCount val="2"/>
                <c:pt idx="0">
                  <c:v>5496</c:v>
                </c:pt>
                <c:pt idx="1">
                  <c:v>718.8</c:v>
                </c:pt>
              </c:numCache>
            </c:numRef>
          </c:val>
        </c:ser>
        <c:gapWidth val="80"/>
        <c:axId val="100000001"/>
        <c:axId val="100000002"/>
      </c:barChart>
      <c:catAx>
        <c:axId val="100000001"/>
        <c:scaling>
          <c:orientation val="minMax"/>
        </c:scaling>
        <c:delete val="0"/>
        <c:axPos val="b"/>
        <c:maj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2"/>
        <c:crosses val="autoZero"/>
        <c:auto val="1"/>
        <c:lblAlgn val="ctr"/>
        <c:lblOffset val="100"/>
      </c:catAx>
      <c:valAx>
        <c:axId val="10000000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£#,##0" sourceLinked="0"/>
        <c:maj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1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475569"/>
              </a:solidFill>
              <a:latin typeface="Segoe UI"/>
            </a:defRPr>
          </a:pPr>
          <a:endParaRPr lang="en-GB"/>
        </a:p>
      </c:txPr>
    </c:legend>
    <c:plotVisOnly val="1"/>
    <c:dispBlanksAs val="gap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lang="en-GB" sz="1200" b="1">
                <a:solidFill>
                  <a:srgbClr val="0F172A"/>
                </a:solidFill>
                <a:latin typeface="Segoe UI"/>
              </a:rPr>
              <a:t>Estimated vs Workload vs Actual (hours)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spPr>
            <a:solidFill>
              <a:srgbClr val="64748B"/>
            </a:solidFill>
          </c:spPr>
          <c:dPt>
            <c:idx val="0"/>
            <c:bubble3D val="0"/>
            <c:spPr>
              <a:solidFill>
                <a:srgbClr val="64748B"/>
              </a:solidFill>
            </c:spPr>
          </c:dPt>
          <c:dPt>
            <c:idx val="1"/>
            <c:bubble3D val="0"/>
            <c:spPr>
              <a:solidFill>
                <a:srgbClr val="B45309"/>
              </a:solidFill>
            </c:spPr>
          </c:dPt>
          <c:dPt>
            <c:idx val="2"/>
            <c:bubble3D val="0"/>
            <c:spPr>
              <a:solidFill>
                <a:srgbClr val="4F46E5"/>
              </a:solidFill>
            </c:spPr>
          </c:dPt>
          <c:dLbls>
            <c:numFmt formatCode="0.0&quot;h&quot;" sourceLinked="0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Estimated</c:v>
                </c:pt>
                <c:pt idx="1">
                  <c:v>Planned Workload</c:v>
                </c:pt>
                <c:pt idx="2">
                  <c:v>Actual Logged</c:v>
                </c:pt>
              </c:strCache>
            </c:strRef>
          </c:cat>
          <c:val>
            <c:numRef>
              <c:f>Sheet1!$B$2:$B$4</c:f>
              <c:numCache>
                <c:formatCode>0.0"h"</c:formatCode>
                <c:ptCount val="3"/>
                <c:pt idx="0">
                  <c:v>367.833333333333</c:v>
                </c:pt>
                <c:pt idx="1">
                  <c:v>402.616666666667</c:v>
                </c:pt>
                <c:pt idx="2">
                  <c:v>536.85</c:v>
                </c:pt>
              </c:numCache>
            </c:numRef>
          </c:val>
        </c:ser>
        <c:gapWidth val="80"/>
        <c:axId val="100000001"/>
        <c:axId val="100000002"/>
      </c:barChart>
      <c:catAx>
        <c:axId val="100000001"/>
        <c:scaling>
          <c:orientation val="minMax"/>
        </c:scaling>
        <c:delete val="0"/>
        <c:axPos val="b"/>
        <c:maj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2"/>
        <c:crosses val="autoZero"/>
        <c:auto val="1"/>
        <c:lblAlgn val="ctr"/>
        <c:lblOffset val="100"/>
      </c:catAx>
      <c:valAx>
        <c:axId val="10000000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0.0&quot;h&quot;" sourceLinked="0"/>
        <c:maj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1"/>
        <c:crosses val="autoZero"/>
      </c:valAx>
    </c:plotArea>
    <c:plotVisOnly val="1"/>
    <c:dispBlanksAs val="gap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lang="en-GB" sz="1200" b="1">
                <a:solidFill>
                  <a:srgbClr val="0F172A"/>
                </a:solidFill>
                <a:latin typeface="Segoe UI"/>
              </a:rPr>
              <a:t>Development Hours: Delivered - Billed - Paid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spPr>
            <a:solidFill>
              <a:srgbClr val="4F46E5"/>
            </a:solidFill>
          </c:spPr>
          <c:dPt>
            <c:idx val="0"/>
            <c:bubble3D val="0"/>
            <c:spPr>
              <a:solidFill>
                <a:srgbClr val="4F46E5"/>
              </a:solidFill>
            </c:spPr>
          </c:dPt>
          <c:dPt>
            <c:idx val="1"/>
            <c:bubble3D val="0"/>
            <c:spPr>
              <a:solidFill>
                <a:srgbClr val="B45309"/>
              </a:solidFill>
            </c:spPr>
          </c:dPt>
          <c:dPt>
            <c:idx val="2"/>
            <c:bubble3D val="0"/>
            <c:spPr>
              <a:solidFill>
                <a:srgbClr val="15803D"/>
              </a:solidFill>
            </c:spPr>
          </c:dPt>
          <c:dLbls>
            <c:numFmt formatCode="0&quot;h&quot;" sourceLinked="0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Delivered</c:v>
                </c:pt>
                <c:pt idx="1">
                  <c:v>Billed</c:v>
                </c:pt>
                <c:pt idx="2">
                  <c:v>Paid</c:v>
                </c:pt>
              </c:strCache>
            </c:strRef>
          </c:cat>
          <c:val>
            <c:numRef>
              <c:f>Sheet1!$B$2:$B$4</c:f>
              <c:numCache>
                <c:formatCode>0"h"</c:formatCode>
                <c:ptCount val="3"/>
                <c:pt idx="0">
                  <c:v>536.85</c:v>
                </c:pt>
                <c:pt idx="1">
                  <c:v>177.9</c:v>
                </c:pt>
                <c:pt idx="2">
                  <c:v>122.116666666667</c:v>
                </c:pt>
              </c:numCache>
            </c:numRef>
          </c:val>
        </c:ser>
        <c:gapWidth val="80"/>
        <c:axId val="100000001"/>
        <c:axId val="100000002"/>
      </c:barChart>
      <c:catAx>
        <c:axId val="100000001"/>
        <c:scaling>
          <c:orientation val="minMax"/>
        </c:scaling>
        <c:delete val="0"/>
        <c:axPos val="b"/>
        <c:maj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2"/>
        <c:crosses val="autoZero"/>
        <c:auto val="1"/>
        <c:lblAlgn val="ctr"/>
        <c:lblOffset val="100"/>
      </c:catAx>
      <c:valAx>
        <c:axId val="10000000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0&quot;h&quot;" sourceLinked="0"/>
        <c:maj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1"/>
        <c:crosses val="autoZero"/>
      </c:valAx>
    </c:plotArea>
    <c:plotVisOnly val="1"/>
    <c:dispBlanksAs val="gap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lang="en-GB" sz="1200" b="1">
                <a:solidFill>
                  <a:srgbClr val="0F172A"/>
                </a:solidFill>
                <a:latin typeface="Segoe UI"/>
              </a:rPr>
              <a:t>Client Paid vs Outstanding</a:t>
            </a:r>
          </a:p>
        </c:rich>
      </c:tx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Outstanding</c:v>
                </c:pt>
              </c:strCache>
            </c:strRef>
          </c:tx>
          <c:spPr>
            <a:solidFill>
              <a:srgbClr val="B91C1C"/>
            </a:solidFill>
          </c:spPr>
          <c:cat>
            <c:strRef>
              <c:f>Sheet1!$A$2:$A$5</c:f>
              <c:strCache>
                <c:ptCount val="4"/>
                <c:pt idx="0">
                  <c:v>NOMADS CLOTHING</c:v>
                </c:pt>
                <c:pt idx="1">
                  <c:v>BRIGGS INDUSTRIAL FOOTWEAR</c:v>
                </c:pt>
                <c:pt idx="2">
                  <c:v>SUPERHOUSE</c:v>
                </c:pt>
                <c:pt idx="3">
                  <c:v>Patrick Shoes</c:v>
                </c:pt>
              </c:strCache>
            </c:strRef>
          </c:cat>
          <c:val>
            <c:numRef>
              <c:f>Sheet1!$B$2:$B$5</c:f>
              <c:numCache>
                <c:formatCode>£#,##0</c:formatCode>
                <c:ptCount val="4"/>
                <c:pt idx="0">
                  <c:v>1194</c:v>
                </c:pt>
                <c:pt idx="1">
                  <c:v>1196.4</c:v>
                </c:pt>
                <c:pt idx="2">
                  <c:v>1671.6</c:v>
                </c:pt>
                <c:pt idx="3">
                  <c:v>2152.8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Paid</c:v>
                </c:pt>
              </c:strCache>
            </c:strRef>
          </c:tx>
          <c:spPr>
            <a:solidFill>
              <a:srgbClr val="15803D"/>
            </a:solidFill>
          </c:spPr>
          <c:cat>
            <c:strRef>
              <c:f>Sheet1!$A$2:$A$5</c:f>
              <c:strCache>
                <c:ptCount val="4"/>
                <c:pt idx="0">
                  <c:v>NOMADS CLOTHING</c:v>
                </c:pt>
                <c:pt idx="1">
                  <c:v>BRIGGS INDUSTRIAL FOOTWEAR</c:v>
                </c:pt>
                <c:pt idx="2">
                  <c:v>SUPERHOUSE</c:v>
                </c:pt>
                <c:pt idx="3">
                  <c:v>Patrick Shoes</c:v>
                </c:pt>
              </c:strCache>
            </c:strRef>
          </c:cat>
          <c:val>
            <c:numRef>
              <c:f>Sheet1!$C$2:$C$5</c:f>
              <c:numCache>
                <c:formatCode>£#,##0</c:formatCode>
                <c:ptCount val="4"/>
                <c:pt idx="0">
                  <c:v>7527</c:v>
                </c:pt>
                <c:pt idx="1">
                  <c:v>5972.4</c:v>
                </c:pt>
                <c:pt idx="2">
                  <c:v>4175.4</c:v>
                </c:pt>
                <c:pt idx="3">
                  <c:v>15159.6</c:v>
                </c:pt>
              </c:numCache>
            </c:numRef>
          </c:val>
        </c:ser>
        <c:gapWidth val="60"/>
        <c:overlap val="100"/>
        <c:axId val="100000001"/>
        <c:axId val="100000002"/>
      </c:barChart>
      <c:catAx>
        <c:axId val="100000001"/>
        <c:scaling>
          <c:orientation val="minMax"/>
        </c:scaling>
        <c:delete val="0"/>
        <c:axPos val="l"/>
        <c:maj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2"/>
        <c:crosses val="autoZero"/>
        <c:auto val="1"/>
        <c:lblAlgn val="ctr"/>
        <c:lblOffset val="100"/>
      </c:catAx>
      <c:valAx>
        <c:axId val="100000002"/>
        <c:scaling>
          <c:orientation val="minMax"/>
        </c:scaling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numFmt formatCode="£#,##0" sourceLinked="0"/>
        <c:maj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1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475569"/>
              </a:solidFill>
              <a:latin typeface="Segoe UI"/>
            </a:defRPr>
          </a:pPr>
          <a:endParaRPr lang="en-GB"/>
        </a:p>
      </c:txPr>
    </c:legend>
    <c:plotVisOnly val="1"/>
    <c:dispBlanksAs val="gap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lang="en-GB" sz="1200" b="1">
                <a:solidFill>
                  <a:srgbClr val="0F172A"/>
                </a:solidFill>
                <a:latin typeface="Segoe UI"/>
              </a:rPr>
              <a:t>Outstanding by Days Past Due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Outstanding</c:v>
                </c:pt>
              </c:strCache>
            </c:strRef>
          </c:tx>
          <c:spPr>
            <a:solidFill>
              <a:srgbClr val="B91C1C"/>
            </a:solidFill>
          </c:spPr>
          <c:dPt>
            <c:idx val="0"/>
            <c:bubble3D val="0"/>
            <c:spPr>
              <a:solidFill>
                <a:srgbClr val="64748B"/>
              </a:solidFill>
            </c:spPr>
          </c:dPt>
          <c:dPt>
            <c:idx val="1"/>
            <c:bubble3D val="0"/>
            <c:spPr>
              <a:solidFill>
                <a:srgbClr val="F59E0B"/>
              </a:solidFill>
            </c:spPr>
          </c:dPt>
          <c:dPt>
            <c:idx val="2"/>
            <c:bubble3D val="0"/>
            <c:spPr>
              <a:solidFill>
                <a:srgbClr val="F97316"/>
              </a:solidFill>
            </c:spPr>
          </c:dPt>
          <c:dPt>
            <c:idx val="3"/>
            <c:bubble3D val="0"/>
            <c:spPr>
              <a:solidFill>
                <a:srgbClr val="DC2626"/>
              </a:solidFill>
            </c:spPr>
          </c:dPt>
          <c:dPt>
            <c:idx val="4"/>
            <c:bubble3D val="0"/>
            <c:spPr>
              <a:solidFill>
                <a:srgbClr val="991B1B"/>
              </a:solidFill>
            </c:spPr>
          </c:dPt>
          <c:dPt>
            <c:idx val="5"/>
            <c:bubble3D val="0"/>
            <c:spPr>
              <a:solidFill>
                <a:srgbClr val="7F1D1D"/>
              </a:solidFill>
            </c:spPr>
          </c:dPt>
          <c:dPt>
            <c:idx val="6"/>
            <c:bubble3D val="0"/>
            <c:spPr>
              <a:solidFill>
                <a:srgbClr val="450A0A"/>
              </a:solidFill>
            </c:spPr>
          </c:dPt>
          <c:dLbls>
            <c:numFmt formatCode="£#,##0" sourceLinked="0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Sheet1!$A$2:$A$8</c:f>
              <c:strCache>
                <c:ptCount val="7"/>
                <c:pt idx="0">
                  <c:v>Not yet due</c:v>
                </c:pt>
                <c:pt idx="1">
                  <c:v>1-30 days</c:v>
                </c:pt>
                <c:pt idx="2">
                  <c:v>31-60 days</c:v>
                </c:pt>
                <c:pt idx="3">
                  <c:v>61-90 days</c:v>
                </c:pt>
                <c:pt idx="4">
                  <c:v>91-180 days</c:v>
                </c:pt>
                <c:pt idx="5">
                  <c:v>181-365 days</c:v>
                </c:pt>
                <c:pt idx="6">
                  <c:v>365+ days</c:v>
                </c:pt>
              </c:strCache>
            </c:strRef>
          </c:cat>
          <c:val>
            <c:numRef>
              <c:f>Sheet1!$B$2:$B$8</c:f>
              <c:numCache>
                <c:formatCode>£#,##0</c:formatCode>
                <c:ptCount val="7"/>
                <c:pt idx="0">
                  <c:v>718.8</c:v>
                </c:pt>
                <c:pt idx="1">
                  <c:v>1434</c:v>
                </c:pt>
                <c:pt idx="2">
                  <c:v>1434</c:v>
                </c:pt>
                <c:pt idx="3">
                  <c:v>1195.2</c:v>
                </c:pt>
                <c:pt idx="4">
                  <c:v>1194</c:v>
                </c:pt>
                <c:pt idx="5">
                  <c:v>238.8</c:v>
                </c:pt>
                <c:pt idx="6">
                  <c:v>0</c:v>
                </c:pt>
              </c:numCache>
            </c:numRef>
          </c:val>
        </c:ser>
        <c:gapWidth val="80"/>
        <c:axId val="100000001"/>
        <c:axId val="100000002"/>
      </c:barChart>
      <c:catAx>
        <c:axId val="100000001"/>
        <c:scaling>
          <c:orientation val="minMax"/>
        </c:scaling>
        <c:delete val="0"/>
        <c:axPos val="b"/>
        <c:maj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2"/>
        <c:crosses val="autoZero"/>
        <c:auto val="1"/>
        <c:lblAlgn val="ctr"/>
        <c:lblOffset val="100"/>
      </c:catAx>
      <c:valAx>
        <c:axId val="10000000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£#,##0" sourceLinked="0"/>
        <c:maj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1"/>
        <c:crosses val="autoZero"/>
      </c:valAx>
    </c:plotArea>
    <c:plotVisOnly val="1"/>
    <c:dispBlanksAs val="gap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lang="en-GB" sz="1200" b="1">
                <a:solidFill>
                  <a:srgbClr val="0F172A"/>
                </a:solidFill>
                <a:latin typeface="Segoe UI"/>
              </a:rPr>
              <a:t>Actual minus Estimated Hours by Project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Variance (hours)</c:v>
                </c:pt>
              </c:strCache>
            </c:strRef>
          </c:tx>
          <c:spPr>
            <a:solidFill>
              <a:srgbClr val="B91C1C"/>
            </a:solidFill>
          </c:spPr>
          <c:dLbls>
            <c:numFmt formatCode="0&quot;h&quot;" sourceLinked="0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Sheet1!$A$2:$A$9</c:f>
              <c:strCache>
                <c:ptCount val="8"/>
                <c:pt idx="0">
                  <c:v>FOOTWEAR DEPOT - 1</c:v>
                </c:pt>
                <c:pt idx="1">
                  <c:v>Silver Street London</c:v>
                </c:pt>
                <c:pt idx="2">
                  <c:v>AMEN SHOES</c:v>
                </c:pt>
                <c:pt idx="3">
                  <c:v>Nomads Trade Website</c:v>
                </c:pt>
                <c:pt idx="4">
                  <c:v>Nomads Clothing</c:v>
                </c:pt>
                <c:pt idx="5">
                  <c:v>Nomads Saige</c:v>
                </c:pt>
                <c:pt idx="6">
                  <c:v>CATESBY ENGLAND</c:v>
                </c:pt>
                <c:pt idx="7">
                  <c:v>NWT</c:v>
                </c:pt>
              </c:strCache>
            </c:strRef>
          </c:cat>
          <c:val>
            <c:numRef>
              <c:f>Sheet1!$B$2:$B$9</c:f>
              <c:numCache>
                <c:formatCode>0"h"</c:formatCode>
                <c:ptCount val="8"/>
                <c:pt idx="0">
                  <c:v>-28.5</c:v>
                </c:pt>
                <c:pt idx="1">
                  <c:v>-9.1</c:v>
                </c:pt>
                <c:pt idx="2">
                  <c:v>15.2</c:v>
                </c:pt>
                <c:pt idx="3">
                  <c:v>17.1</c:v>
                </c:pt>
                <c:pt idx="4">
                  <c:v>22</c:v>
                </c:pt>
                <c:pt idx="5">
                  <c:v>35</c:v>
                </c:pt>
                <c:pt idx="6">
                  <c:v>53</c:v>
                </c:pt>
                <c:pt idx="7">
                  <c:v>64.3</c:v>
                </c:pt>
              </c:numCache>
            </c:numRef>
          </c:val>
        </c:ser>
        <c:gapWidth val="80"/>
        <c:axId val="100000001"/>
        <c:axId val="100000002"/>
      </c:barChart>
      <c:catAx>
        <c:axId val="100000001"/>
        <c:scaling>
          <c:orientation val="minMax"/>
        </c:scaling>
        <c:delete val="0"/>
        <c:axPos val="l"/>
        <c:maj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2"/>
        <c:crosses val="autoZero"/>
        <c:auto val="1"/>
        <c:lblAlgn val="ctr"/>
        <c:lblOffset val="100"/>
      </c:catAx>
      <c:valAx>
        <c:axId val="100000002"/>
        <c:scaling>
          <c:orientation val="minMax"/>
        </c:scaling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numFmt formatCode="0&quot;h&quot;" sourceLinked="0"/>
        <c:maj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1"/>
        <c:crosses val="autoZero"/>
      </c:valAx>
    </c:plotArea>
    <c:plotVisOnly val="1"/>
    <c:dispBlanksAs val="gap"/>
  </c:chart>
  <c:externalData r:id="rId1">
    <c:autoUpdate val="0"/>
  </c:externalData>
</c:chartSpace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400" b="1">
          <a:solidFill>
            <a:srgbClr val="0F172A"/>
          </a:solidFill>
          <a:latin typeface="Segoe UI"/>
        </a:defRPr>
      </a:lvl1pPr>
    </p:titleStyle>
    <p:bodyStyle>
      <a:lvl1pPr algn="l">
        <a:defRPr sz="1200">
          <a:solidFill>
            <a:srgbClr val="0F172A"/>
          </a:solidFill>
          <a:latin typeface="Segoe UI"/>
        </a:defRPr>
      </a:lvl1pPr>
    </p:bodyStyle>
    <p:otherStyle>
      <a:lvl1pPr algn="l">
        <a:defRPr sz="1200">
          <a:solidFill>
            <a:srgbClr val="0F172A"/>
          </a:solidFill>
          <a:latin typeface="Segoe UI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71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OVERALL POSITION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Executive Summary</a:t>
            </a:r>
          </a:p>
        </p:txBody>
      </p:sp>
      <p:sp>
        <p:nvSpPr>
          <p:cNvPr id="74" name="kpi-strip"/>
          <p:cNvSpPr/>
          <p:nvPr/>
        </p:nvSpPr>
        <p:spPr>
          <a:xfrm>
            <a:off x="411480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75" name="kpi-card"/>
          <p:cNvSpPr/>
          <p:nvPr/>
        </p:nvSpPr>
        <p:spPr>
          <a:xfrm>
            <a:off x="411480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76" name="kpi-txt"/>
          <p:cNvSpPr/>
          <p:nvPr/>
        </p:nvSpPr>
        <p:spPr>
          <a:xfrm>
            <a:off x="457200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Projects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9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9 invoice-layer + 8 PM</a:t>
            </a:r>
          </a:p>
        </p:txBody>
      </p:sp>
      <p:sp>
        <p:nvSpPr>
          <p:cNvPr id="78" name="kpi-strip"/>
          <p:cNvSpPr/>
          <p:nvPr/>
        </p:nvSpPr>
        <p:spPr>
          <a:xfrm>
            <a:off x="3300984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79" name="kpi-card"/>
          <p:cNvSpPr/>
          <p:nvPr/>
        </p:nvSpPr>
        <p:spPr>
          <a:xfrm>
            <a:off x="3300984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0" name="kpi-txt"/>
          <p:cNvSpPr/>
          <p:nvPr/>
        </p:nvSpPr>
        <p:spPr>
          <a:xfrm>
            <a:off x="3346704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Clients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4</a:t>
            </a:r>
          </a:p>
        </p:txBody>
      </p:sp>
      <p:sp>
        <p:nvSpPr>
          <p:cNvPr id="82" name="kpi-strip"/>
          <p:cNvSpPr/>
          <p:nvPr/>
        </p:nvSpPr>
        <p:spPr>
          <a:xfrm>
            <a:off x="6190488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3" name="kpi-card"/>
          <p:cNvSpPr/>
          <p:nvPr/>
        </p:nvSpPr>
        <p:spPr>
          <a:xfrm>
            <a:off x="6190488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4" name="kpi-txt"/>
          <p:cNvSpPr/>
          <p:nvPr/>
        </p:nvSpPr>
        <p:spPr>
          <a:xfrm>
            <a:off x="6236208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Invoices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125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125 unique IDs</a:t>
            </a:r>
          </a:p>
        </p:txBody>
      </p:sp>
      <p:sp>
        <p:nvSpPr>
          <p:cNvPr id="86" name="kpi-strip"/>
          <p:cNvSpPr/>
          <p:nvPr/>
        </p:nvSpPr>
        <p:spPr>
          <a:xfrm>
            <a:off x="9079992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7" name="kpi-card"/>
          <p:cNvSpPr/>
          <p:nvPr/>
        </p:nvSpPr>
        <p:spPr>
          <a:xfrm>
            <a:off x="9079992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8" name="kpi-txt"/>
          <p:cNvSpPr/>
          <p:nvPr/>
        </p:nvSpPr>
        <p:spPr>
          <a:xfrm>
            <a:off x="9125712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Invoiced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£39,049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incl. VAT</a:t>
            </a:r>
          </a:p>
        </p:txBody>
      </p:sp>
      <p:sp>
        <p:nvSpPr>
          <p:cNvPr id="90" name="kpi-strip"/>
          <p:cNvSpPr/>
          <p:nvPr/>
        </p:nvSpPr>
        <p:spPr>
          <a:xfrm>
            <a:off x="411480" y="2039112"/>
            <a:ext cx="2706624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1" name="kpi-card"/>
          <p:cNvSpPr/>
          <p:nvPr/>
        </p:nvSpPr>
        <p:spPr>
          <a:xfrm>
            <a:off x="411480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2" name="kpi-txt"/>
          <p:cNvSpPr/>
          <p:nvPr/>
        </p:nvSpPr>
        <p:spPr>
          <a:xfrm>
            <a:off x="457200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Collected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5803D"/>
                </a:solidFill>
                <a:latin typeface="Segoe UI"/>
              </a:rPr>
              <a:t>£32,834</a:t>
            </a:r>
          </a:p>
        </p:txBody>
      </p:sp>
      <p:sp>
        <p:nvSpPr>
          <p:cNvPr id="94" name="kpi-strip"/>
          <p:cNvSpPr/>
          <p:nvPr/>
        </p:nvSpPr>
        <p:spPr>
          <a:xfrm>
            <a:off x="3300984" y="2039112"/>
            <a:ext cx="2706624" cy="64008"/>
          </a:xfrm>
          <a:prstGeom prst="rect">
            <a:avLst/>
          </a:prstGeom>
          <a:solidFill>
            <a:srgbClr val=" of invoiced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5" name="kpi-card"/>
          <p:cNvSpPr/>
          <p:nvPr/>
        </p:nvSpPr>
        <p:spPr>
          <a:xfrm>
            <a:off x="3300984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6" name="kpi-txt"/>
          <p:cNvSpPr/>
          <p:nvPr/>
        </p:nvSpPr>
        <p:spPr>
          <a:xfrm>
            <a:off x="3346704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Outstanding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 of invoiced"/>
                </a:solidFill>
                <a:latin typeface="Segoe UI"/>
              </a:rPr>
              <a:t>£6,215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15.9%</a:t>
            </a:r>
          </a:p>
        </p:txBody>
      </p:sp>
      <p:sp>
        <p:nvSpPr>
          <p:cNvPr id="98" name="kpi-strip"/>
          <p:cNvSpPr/>
          <p:nvPr/>
        </p:nvSpPr>
        <p:spPr>
          <a:xfrm>
            <a:off x="6190488" y="2039112"/>
            <a:ext cx="2706624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9" name="kpi-card"/>
          <p:cNvSpPr/>
          <p:nvPr/>
        </p:nvSpPr>
        <p:spPr>
          <a:xfrm>
            <a:off x="6190488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00" name="kpi-txt"/>
          <p:cNvSpPr/>
          <p:nvPr/>
        </p:nvSpPr>
        <p:spPr>
          <a:xfrm>
            <a:off x="6236208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Collection Rate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5803D"/>
                </a:solidFill>
                <a:latin typeface="Segoe UI"/>
              </a:rPr>
              <a:t>84.1%</a:t>
            </a:r>
          </a:p>
        </p:txBody>
      </p:sp>
      <p:sp>
        <p:nvSpPr>
          <p:cNvPr id="102" name="kpi-strip"/>
          <p:cNvSpPr/>
          <p:nvPr/>
        </p:nvSpPr>
        <p:spPr>
          <a:xfrm>
            <a:off x="9079992" y="2039112"/>
            <a:ext cx="2706624" cy="64008"/>
          </a:xfrm>
          <a:prstGeom prst="rect">
            <a:avLst/>
          </a:prstGeom>
          <a:solidFill>
            <a:srgbClr val="45.9%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03" name="kpi-card"/>
          <p:cNvSpPr/>
          <p:nvPr/>
        </p:nvSpPr>
        <p:spPr>
          <a:xfrm>
            <a:off x="9079992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04" name="kpi-txt"/>
          <p:cNvSpPr/>
          <p:nvPr/>
        </p:nvSpPr>
        <p:spPr>
          <a:xfrm>
            <a:off x="9125712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Dev Hours Delivered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45.9%"/>
                </a:solidFill>
                <a:latin typeface="Segoe UI"/>
              </a:rPr>
              <a:t>536h 51m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+</a:t>
            </a:r>
          </a:p>
        </p:txBody>
      </p:sp>
      <p:sp>
        <p:nvSpPr>
          <p:cNvPr id="106" name="sh"/>
          <p:cNvSpPr/>
          <p:nvPr/>
        </p:nvSpPr>
        <p:spPr>
          <a:xfrm>
            <a:off x="411480" y="324612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1300" b="1">
                <a:solidFill>
                  <a:srgbClr val="0F172A"/>
                </a:solidFill>
                <a:latin typeface="Segoe UI"/>
              </a:rPr>
              <a:t>Key Insights</a:t>
            </a:r>
          </a:p>
        </p:txBody>
      </p:sp>
      <p:sp>
        <p:nvSpPr>
          <p:cNvPr id="110" name="ins"/>
          <p:cNvSpPr/>
          <p:nvPr/>
        </p:nvSpPr>
        <p:spPr>
          <a:xfrm>
            <a:off x="411480" y="3566160"/>
            <a:ext cx="11375136" cy="28346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Collection position: Â£32,834.40 of Â£39,049.20 invoiced value collected (84.1%); Â£6,214.80 (15.9%) remains outstanding.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SEO is the largest service line: Â£33,678.00 invoiced (86.2% of total) vs Development Â£5,371.20.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Patrick Shoes Limited is the top client (Â£17,312.40, 44.3% of revenue) and also carries the highest unpaid exposure (Â£1,196.40).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Development delivery is significantly over estimate: 536h 51m logged vs 367h 50m estimated (+45.9%).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328h 55m of development effort (approx Â£3,289.17 at Â£10/hr) has no identified invoice â€” a billing gap.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20 invoices totalling Â£5,496.00 are past due; the oldest unpaid invoice is 194 days past its due date (SUPERHOUSE (UK) LIMITED).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2023-2025 cohorts are 100% collected; the entire outstanding balance sits in the 2026 invoice cohort (Â£6,214.80).</a:t>
            </a:r>
          </a:p>
        </p:txBody>
      </p:sp>
      <p:sp>
        <p:nvSpPr>
          <p:cNvPr id="114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15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116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2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gmtTheme">
  <a:themeElements>
    <a:clrScheme name="Mgmt">
      <a:dk1>
        <a:srgbClr val="0F172A"/>
      </a:dk1>
      <a:lt1>
        <a:srgbClr val="FFFFFF"/>
      </a:lt1>
      <a:dk2>
        <a:srgbClr val="1E293B"/>
      </a:dk2>
      <a:lt2>
        <a:srgbClr val="F1F5F9"/>
      </a:lt2>
      <a:accent1>
        <a:srgbClr val="1E40AF"/>
      </a:accent1>
      <a:accent2>
        <a:srgbClr val="15803D"/>
      </a:accent2>
      <a:accent3>
        <a:srgbClr val="B91C1C"/>
      </a:accent3>
      <a:accent4>
        <a:srgbClr val="0D9488"/>
      </a:accent4>
      <a:accent5>
        <a:srgbClr val="4F46E5"/>
      </a:accent5>
      <a:accent6>
        <a:srgbClr val="B45309"/>
      </a:accent6>
      <a:hlink>
        <a:srgbClr val="1E40AF"/>
      </a:hlink>
      <a:folHlink>
        <a:srgbClr val="64748B"/>
      </a:folHlink>
    </a:clrScheme>
    <a:fontScheme name="Sego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Mgm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PresentationFormat>Widescreen</PresentationFormat>
  <Slides>1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Invoice, Project &amp; Development Effort Analysis</dc:title>
  <dc:subject>Management Review 2023 - Present</dc:subject>
  <dc:creator>Business Analysis</dc:creator>
  <cp:lastModifiedBy>Business Analysis</cp:lastModifiedBy>
  <dcterms:created xsi:type="dcterms:W3CDTF">2026-08-19T09:00:00Z</dcterms:created>
  <dcterms:modified xsi:type="dcterms:W3CDTF">2026-08-19T09:00:00Z</dcterms:modified>
</cp:coreProperties>
</file>