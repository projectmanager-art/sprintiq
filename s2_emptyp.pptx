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 type="screen16x9"/>
  <p:notesSz cx="6858000" cy="9144000"/>
  <p:defaultTextStyle>
    <a:defPPr>
      <a:defRPr lang="en-GB"/>
    </a:defPPr>
    <a:lvl1pPr marL="0" algn="l" defTabSz="914400" rtl="0">
      <a:defRPr sz="1200">
        <a:latin typeface="Segoe UI"/>
      </a:defRPr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100" Type="http://schemas.openxmlformats.org/officeDocument/2006/relationships/presProps" Target="presProps.xml"/><Relationship Id="rId101" Type="http://schemas.openxmlformats.org/officeDocument/2006/relationships/viewProps" Target="viewProps.xml"/><Relationship Id="rId102" Type="http://schemas.openxmlformats.org/officeDocument/2006/relationships/tableStyles" Target="tableStyles.xml"/><Relationship Id="rId103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2400" b="1">
          <a:solidFill>
            <a:srgbClr val="0F172A"/>
          </a:solidFill>
          <a:latin typeface="Segoe UI"/>
        </a:defRPr>
      </a:lvl1pPr>
    </p:titleStyle>
    <p:bodyStyle>
      <a:lvl1pPr algn="l">
        <a:defRPr sz="1200">
          <a:solidFill>
            <a:srgbClr val="0F172A"/>
          </a:solidFill>
          <a:latin typeface="Segoe UI"/>
        </a:defRPr>
      </a:lvl1pPr>
    </p:bodyStyle>
    <p:otherStyle>
      <a:lvl1pPr algn="l">
        <a:defRPr sz="1200">
          <a:solidFill>
            <a:srgbClr val="0F172A"/>
          </a:solidFill>
          <a:latin typeface="Segoe UI"/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itlebar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anchor="t" lIns="73152" tIns="36576" rIns="73152" bIns="36576"/>
          <a:lstStyle/>
          <a:p>
            <a:endParaRPr lang="en-GB"/>
          </a:p>
        </p:txBody>
      </p:sp>
      <p:sp>
        <p:nvSpPr>
          <p:cNvPr id="71" name="title"/>
          <p:cNvSpPr/>
          <p:nvPr/>
        </p:nvSpPr>
        <p:spPr>
          <a:xfrm>
            <a:off x="411480" y="54864"/>
            <a:ext cx="11338560" cy="71323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tIns="36576" rIns="73152" bIns="36576"/>
          <a:lstStyle/>
          <a:p>
            <a:pPr algn="l">
              <a:spcAft>
                <a:spcPts val="100"/>
              </a:spcAft>
            </a:pPr>
            <a:r>
              <a:rPr lang="en-GB" sz="950" b="1">
                <a:solidFill>
                  <a:srgbClr val="93C5FD"/>
                </a:solidFill>
                <a:latin typeface="Segoe UI"/>
              </a:rPr>
              <a:t>OVERALL POSITION</a:t>
            </a:r>
          </a:p>
          <a:p>
            <a:pPr algn="l"/>
            <a:r>
              <a:rPr lang="en-GB" sz="2100" b="1">
                <a:solidFill>
                  <a:srgbClr val="FFFFFF"/>
                </a:solidFill>
                <a:latin typeface="Segoe UI"/>
              </a:rPr>
              <a:t>Executive Summary</a:t>
            </a:r>
          </a:p>
        </p:txBody>
      </p:sp>
      <p:sp>
        <p:nvSpPr>
          <p:cNvPr id="74" name="kpi-strip"/>
          <p:cNvSpPr/>
          <p:nvPr/>
        </p:nvSpPr>
        <p:spPr>
          <a:xfrm>
            <a:off x="411480" y="960120"/>
            <a:ext cx="2706624" cy="64008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 wrap="square" anchor="t" lIns="73152" tIns="36576" rIns="73152" bIns="36576"/>
          <a:lstStyle/>
          <a:p>
            <a:endParaRPr lang="en-GB"/>
          </a:p>
        </p:txBody>
      </p:sp>
      <p:sp>
        <p:nvSpPr>
          <p:cNvPr id="75" name="kpi-card"/>
          <p:cNvSpPr/>
          <p:nvPr/>
        </p:nvSpPr>
        <p:spPr>
          <a:xfrm>
            <a:off x="411480" y="960120"/>
            <a:ext cx="2706624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t" lIns="73152" tIns="36576" rIns="73152" bIns="36576"/>
          <a:lstStyle/>
          <a:p>
            <a:endParaRPr lang="en-GB"/>
          </a:p>
        </p:txBody>
      </p:sp>
      <p:sp>
        <p:nvSpPr>
          <p:cNvPr id="76" name="kpi-txt"/>
          <p:cNvSpPr/>
          <p:nvPr/>
        </p:nvSpPr>
        <p:spPr>
          <a:xfrm>
            <a:off x="457200" y="1051560"/>
            <a:ext cx="2615184" cy="832104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>
              <a:spcAft>
                <a:spcPts val="200"/>
              </a:spcAft>
            </a:pPr>
            <a:r>
              <a:rPr lang="en-GB" sz="1050" b="1">
                <a:solidFill>
                  <a:srgbClr val="64748B"/>
                </a:solidFill>
                <a:latin typeface="Segoe UI"/>
              </a:rPr>
              <a:t>Total Projects</a:t>
            </a:r>
          </a:p>
          <a:p>
            <a:pPr algn="l">
              <a:spcAft>
                <a:spcPts val="100"/>
              </a:spcAft>
            </a:pPr>
            <a:r>
              <a:rPr lang="en-GB" sz="2000" b="1">
                <a:solidFill>
                  <a:srgbClr val="1E40AF"/>
                </a:solidFill>
                <a:latin typeface="Segoe UI"/>
              </a:rPr>
              <a:t>9</a:t>
            </a:r>
          </a:p>
          <a:p>
            <a:pPr algn="l"/>
            <a:r>
              <a:rPr lang="en-GB" sz="950">
                <a:solidFill>
                  <a:srgbClr val="64748B"/>
                </a:solidFill>
                <a:latin typeface="Segoe UI"/>
              </a:rPr>
              <a:t>9 invoice-layer + 8 PM</a:t>
            </a:r>
          </a:p>
        </p:txBody>
      </p:sp>
      <p:sp>
        <p:nvSpPr>
          <p:cNvPr id="78" name="kpi-strip"/>
          <p:cNvSpPr/>
          <p:nvPr/>
        </p:nvSpPr>
        <p:spPr>
          <a:xfrm>
            <a:off x="3300984" y="960120"/>
            <a:ext cx="2706624" cy="64008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 wrap="square" anchor="t" lIns="73152" tIns="36576" rIns="73152" bIns="36576"/>
          <a:lstStyle/>
          <a:p>
            <a:endParaRPr lang="en-GB"/>
          </a:p>
        </p:txBody>
      </p:sp>
      <p:sp>
        <p:nvSpPr>
          <p:cNvPr id="79" name="kpi-card"/>
          <p:cNvSpPr/>
          <p:nvPr/>
        </p:nvSpPr>
        <p:spPr>
          <a:xfrm>
            <a:off x="3300984" y="960120"/>
            <a:ext cx="2706624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t" lIns="73152" tIns="36576" rIns="73152" bIns="36576"/>
          <a:lstStyle/>
          <a:p>
            <a:endParaRPr lang="en-GB"/>
          </a:p>
        </p:txBody>
      </p:sp>
      <p:sp>
        <p:nvSpPr>
          <p:cNvPr id="80" name="kpi-txt"/>
          <p:cNvSpPr/>
          <p:nvPr/>
        </p:nvSpPr>
        <p:spPr>
          <a:xfrm>
            <a:off x="3346704" y="1051560"/>
            <a:ext cx="2615184" cy="832104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>
              <a:spcAft>
                <a:spcPts val="200"/>
              </a:spcAft>
            </a:pPr>
            <a:r>
              <a:rPr lang="en-GB" sz="1050" b="1">
                <a:solidFill>
                  <a:srgbClr val="64748B"/>
                </a:solidFill>
                <a:latin typeface="Segoe UI"/>
              </a:rPr>
              <a:t>Total Clients</a:t>
            </a:r>
          </a:p>
          <a:p>
            <a:pPr algn="l">
              <a:spcAft>
                <a:spcPts val="100"/>
              </a:spcAft>
            </a:pPr>
            <a:r>
              <a:rPr lang="en-GB" sz="2000" b="1">
                <a:solidFill>
                  <a:srgbClr val="1E40AF"/>
                </a:solidFill>
                <a:latin typeface="Segoe UI"/>
              </a:rPr>
              <a:t>4</a:t>
            </a:r>
          </a:p>
        </p:txBody>
      </p:sp>
      <p:sp>
        <p:nvSpPr>
          <p:cNvPr id="82" name="kpi-strip"/>
          <p:cNvSpPr/>
          <p:nvPr/>
        </p:nvSpPr>
        <p:spPr>
          <a:xfrm>
            <a:off x="6190488" y="960120"/>
            <a:ext cx="2706624" cy="64008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 wrap="square" anchor="t" lIns="73152" tIns="36576" rIns="73152" bIns="36576"/>
          <a:lstStyle/>
          <a:p>
            <a:endParaRPr lang="en-GB"/>
          </a:p>
        </p:txBody>
      </p:sp>
      <p:sp>
        <p:nvSpPr>
          <p:cNvPr id="83" name="kpi-card"/>
          <p:cNvSpPr/>
          <p:nvPr/>
        </p:nvSpPr>
        <p:spPr>
          <a:xfrm>
            <a:off x="6190488" y="960120"/>
            <a:ext cx="2706624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t" lIns="73152" tIns="36576" rIns="73152" bIns="36576"/>
          <a:lstStyle/>
          <a:p>
            <a:endParaRPr lang="en-GB"/>
          </a:p>
        </p:txBody>
      </p:sp>
      <p:sp>
        <p:nvSpPr>
          <p:cNvPr id="84" name="kpi-txt"/>
          <p:cNvSpPr/>
          <p:nvPr/>
        </p:nvSpPr>
        <p:spPr>
          <a:xfrm>
            <a:off x="6236208" y="1051560"/>
            <a:ext cx="2615184" cy="832104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>
              <a:spcAft>
                <a:spcPts val="200"/>
              </a:spcAft>
            </a:pPr>
            <a:r>
              <a:rPr lang="en-GB" sz="1050" b="1">
                <a:solidFill>
                  <a:srgbClr val="64748B"/>
                </a:solidFill>
                <a:latin typeface="Segoe UI"/>
              </a:rPr>
              <a:t>Total Invoices</a:t>
            </a:r>
          </a:p>
          <a:p>
            <a:pPr algn="l">
              <a:spcAft>
                <a:spcPts val="100"/>
              </a:spcAft>
            </a:pPr>
            <a:r>
              <a:rPr lang="en-GB" sz="2000" b="1">
                <a:solidFill>
                  <a:srgbClr val="1E40AF"/>
                </a:solidFill>
                <a:latin typeface="Segoe UI"/>
              </a:rPr>
              <a:t>125</a:t>
            </a:r>
          </a:p>
          <a:p>
            <a:pPr algn="l"/>
            <a:r>
              <a:rPr lang="en-GB" sz="950">
                <a:solidFill>
                  <a:srgbClr val="64748B"/>
                </a:solidFill>
                <a:latin typeface="Segoe UI"/>
              </a:rPr>
              <a:t>125 unique IDs</a:t>
            </a:r>
          </a:p>
        </p:txBody>
      </p:sp>
      <p:sp>
        <p:nvSpPr>
          <p:cNvPr id="86" name="kpi-strip"/>
          <p:cNvSpPr/>
          <p:nvPr/>
        </p:nvSpPr>
        <p:spPr>
          <a:xfrm>
            <a:off x="9079992" y="960120"/>
            <a:ext cx="2706624" cy="64008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 wrap="square" anchor="t" lIns="73152" tIns="36576" rIns="73152" bIns="36576"/>
          <a:lstStyle/>
          <a:p>
            <a:endParaRPr lang="en-GB"/>
          </a:p>
        </p:txBody>
      </p:sp>
      <p:sp>
        <p:nvSpPr>
          <p:cNvPr id="87" name="kpi-card"/>
          <p:cNvSpPr/>
          <p:nvPr/>
        </p:nvSpPr>
        <p:spPr>
          <a:xfrm>
            <a:off x="9079992" y="960120"/>
            <a:ext cx="2706624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t" lIns="73152" tIns="36576" rIns="73152" bIns="36576"/>
          <a:lstStyle/>
          <a:p>
            <a:endParaRPr lang="en-GB"/>
          </a:p>
        </p:txBody>
      </p:sp>
      <p:sp>
        <p:nvSpPr>
          <p:cNvPr id="88" name="kpi-txt"/>
          <p:cNvSpPr/>
          <p:nvPr/>
        </p:nvSpPr>
        <p:spPr>
          <a:xfrm>
            <a:off x="9125712" y="1051560"/>
            <a:ext cx="2615184" cy="832104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>
              <a:spcAft>
                <a:spcPts val="200"/>
              </a:spcAft>
            </a:pPr>
            <a:r>
              <a:rPr lang="en-GB" sz="1050" b="1">
                <a:solidFill>
                  <a:srgbClr val="64748B"/>
                </a:solidFill>
                <a:latin typeface="Segoe UI"/>
              </a:rPr>
              <a:t>Total Invoiced</a:t>
            </a:r>
          </a:p>
          <a:p>
            <a:pPr algn="l">
              <a:spcAft>
                <a:spcPts val="100"/>
              </a:spcAft>
            </a:pPr>
            <a:r>
              <a:rPr lang="en-GB" sz="2000" b="1">
                <a:solidFill>
                  <a:srgbClr val="1E40AF"/>
                </a:solidFill>
                <a:latin typeface="Segoe UI"/>
              </a:rPr>
              <a:t>£39,049</a:t>
            </a:r>
          </a:p>
          <a:p>
            <a:pPr algn="l"/>
            <a:r>
              <a:rPr lang="en-GB" sz="950">
                <a:solidFill>
                  <a:srgbClr val="64748B"/>
                </a:solidFill>
                <a:latin typeface="Segoe UI"/>
              </a:rPr>
              <a:t>incl. VAT</a:t>
            </a:r>
          </a:p>
        </p:txBody>
      </p:sp>
      <p:sp>
        <p:nvSpPr>
          <p:cNvPr id="90" name="kpi-strip"/>
          <p:cNvSpPr/>
          <p:nvPr/>
        </p:nvSpPr>
        <p:spPr>
          <a:xfrm>
            <a:off x="411480" y="2039112"/>
            <a:ext cx="2706624" cy="64008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txBody>
          <a:bodyPr wrap="square" anchor="t" lIns="73152" tIns="36576" rIns="73152" bIns="36576"/>
          <a:lstStyle/>
          <a:p>
            <a:endParaRPr lang="en-GB"/>
          </a:p>
        </p:txBody>
      </p:sp>
      <p:sp>
        <p:nvSpPr>
          <p:cNvPr id="91" name="kpi-card"/>
          <p:cNvSpPr/>
          <p:nvPr/>
        </p:nvSpPr>
        <p:spPr>
          <a:xfrm>
            <a:off x="411480" y="2039112"/>
            <a:ext cx="2706624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t" lIns="73152" tIns="36576" rIns="73152" bIns="36576"/>
          <a:lstStyle/>
          <a:p>
            <a:endParaRPr lang="en-GB"/>
          </a:p>
        </p:txBody>
      </p:sp>
      <p:sp>
        <p:nvSpPr>
          <p:cNvPr id="92" name="kpi-txt"/>
          <p:cNvSpPr/>
          <p:nvPr/>
        </p:nvSpPr>
        <p:spPr>
          <a:xfrm>
            <a:off x="457200" y="2130552"/>
            <a:ext cx="2615184" cy="832104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>
              <a:spcAft>
                <a:spcPts val="200"/>
              </a:spcAft>
            </a:pPr>
            <a:r>
              <a:rPr lang="en-GB" sz="1050" b="1">
                <a:solidFill>
                  <a:srgbClr val="64748B"/>
                </a:solidFill>
                <a:latin typeface="Segoe UI"/>
              </a:rPr>
              <a:t>Total Collected</a:t>
            </a:r>
          </a:p>
          <a:p>
            <a:pPr algn="l">
              <a:spcAft>
                <a:spcPts val="100"/>
              </a:spcAft>
            </a:pPr>
            <a:r>
              <a:rPr lang="en-GB" sz="2000" b="1">
                <a:solidFill>
                  <a:srgbClr val="15803D"/>
                </a:solidFill>
                <a:latin typeface="Segoe UI"/>
              </a:rPr>
              <a:t>£32,834</a:t>
            </a:r>
          </a:p>
        </p:txBody>
      </p:sp>
      <p:sp>
        <p:nvSpPr>
          <p:cNvPr id="94" name="kpi-strip"/>
          <p:cNvSpPr/>
          <p:nvPr/>
        </p:nvSpPr>
        <p:spPr>
          <a:xfrm>
            <a:off x="3300984" y="2039112"/>
            <a:ext cx="2706624" cy="64008"/>
          </a:xfrm>
          <a:prstGeom prst="rect">
            <a:avLst/>
          </a:prstGeom>
          <a:solidFill>
            <a:srgbClr val=" of invoiced"/>
          </a:solidFill>
          <a:ln>
            <a:noFill/>
          </a:ln>
        </p:spPr>
        <p:txBody>
          <a:bodyPr wrap="square" anchor="t" lIns="73152" tIns="36576" rIns="73152" bIns="36576"/>
          <a:lstStyle/>
          <a:p>
            <a:endParaRPr lang="en-GB"/>
          </a:p>
        </p:txBody>
      </p:sp>
      <p:sp>
        <p:nvSpPr>
          <p:cNvPr id="95" name="kpi-card"/>
          <p:cNvSpPr/>
          <p:nvPr/>
        </p:nvSpPr>
        <p:spPr>
          <a:xfrm>
            <a:off x="3300984" y="2039112"/>
            <a:ext cx="2706624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t" lIns="73152" tIns="36576" rIns="73152" bIns="36576"/>
          <a:lstStyle/>
          <a:p>
            <a:endParaRPr lang="en-GB"/>
          </a:p>
        </p:txBody>
      </p:sp>
      <p:sp>
        <p:nvSpPr>
          <p:cNvPr id="96" name="kpi-txt"/>
          <p:cNvSpPr/>
          <p:nvPr/>
        </p:nvSpPr>
        <p:spPr>
          <a:xfrm>
            <a:off x="3346704" y="2130552"/>
            <a:ext cx="2615184" cy="832104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>
              <a:spcAft>
                <a:spcPts val="200"/>
              </a:spcAft>
            </a:pPr>
            <a:r>
              <a:rPr lang="en-GB" sz="1050" b="1">
                <a:solidFill>
                  <a:srgbClr val="64748B"/>
                </a:solidFill>
                <a:latin typeface="Segoe UI"/>
              </a:rPr>
              <a:t>Outstanding</a:t>
            </a:r>
          </a:p>
          <a:p>
            <a:pPr algn="l">
              <a:spcAft>
                <a:spcPts val="100"/>
              </a:spcAft>
            </a:pPr>
            <a:r>
              <a:rPr lang="en-GB" sz="2000" b="1">
                <a:solidFill>
                  <a:srgbClr val=" of invoiced"/>
                </a:solidFill>
                <a:latin typeface="Segoe UI"/>
              </a:rPr>
              <a:t>£6,215</a:t>
            </a:r>
          </a:p>
          <a:p>
            <a:pPr algn="l"/>
            <a:r>
              <a:rPr lang="en-GB" sz="950">
                <a:solidFill>
                  <a:srgbClr val="64748B"/>
                </a:solidFill>
                <a:latin typeface="Segoe UI"/>
              </a:rPr>
              <a:t>15.9%</a:t>
            </a:r>
          </a:p>
        </p:txBody>
      </p:sp>
      <p:sp>
        <p:nvSpPr>
          <p:cNvPr id="98" name="kpi-strip"/>
          <p:cNvSpPr/>
          <p:nvPr/>
        </p:nvSpPr>
        <p:spPr>
          <a:xfrm>
            <a:off x="6190488" y="2039112"/>
            <a:ext cx="2706624" cy="64008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txBody>
          <a:bodyPr wrap="square" anchor="t" lIns="73152" tIns="36576" rIns="73152" bIns="36576"/>
          <a:lstStyle/>
          <a:p>
            <a:endParaRPr lang="en-GB"/>
          </a:p>
        </p:txBody>
      </p:sp>
      <p:sp>
        <p:nvSpPr>
          <p:cNvPr id="99" name="kpi-card"/>
          <p:cNvSpPr/>
          <p:nvPr/>
        </p:nvSpPr>
        <p:spPr>
          <a:xfrm>
            <a:off x="6190488" y="2039112"/>
            <a:ext cx="2706624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t" lIns="73152" tIns="36576" rIns="73152" bIns="36576"/>
          <a:lstStyle/>
          <a:p>
            <a:endParaRPr lang="en-GB"/>
          </a:p>
        </p:txBody>
      </p:sp>
      <p:sp>
        <p:nvSpPr>
          <p:cNvPr id="100" name="kpi-txt"/>
          <p:cNvSpPr/>
          <p:nvPr/>
        </p:nvSpPr>
        <p:spPr>
          <a:xfrm>
            <a:off x="6236208" y="2130552"/>
            <a:ext cx="2615184" cy="832104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>
              <a:spcAft>
                <a:spcPts val="200"/>
              </a:spcAft>
            </a:pPr>
            <a:r>
              <a:rPr lang="en-GB" sz="1050" b="1">
                <a:solidFill>
                  <a:srgbClr val="64748B"/>
                </a:solidFill>
                <a:latin typeface="Segoe UI"/>
              </a:rPr>
              <a:t>Collection Rate</a:t>
            </a:r>
          </a:p>
          <a:p>
            <a:pPr algn="l">
              <a:spcAft>
                <a:spcPts val="100"/>
              </a:spcAft>
            </a:pPr>
            <a:r>
              <a:rPr lang="en-GB" sz="2000" b="1">
                <a:solidFill>
                  <a:srgbClr val="15803D"/>
                </a:solidFill>
                <a:latin typeface="Segoe UI"/>
              </a:rPr>
              <a:t>84.1%</a:t>
            </a:r>
          </a:p>
        </p:txBody>
      </p:sp>
      <p:sp>
        <p:nvSpPr>
          <p:cNvPr id="102" name="kpi-strip"/>
          <p:cNvSpPr/>
          <p:nvPr/>
        </p:nvSpPr>
        <p:spPr>
          <a:xfrm>
            <a:off x="9079992" y="2039112"/>
            <a:ext cx="2706624" cy="64008"/>
          </a:xfrm>
          <a:prstGeom prst="rect">
            <a:avLst/>
          </a:prstGeom>
          <a:solidFill>
            <a:srgbClr val="45.9%"/>
          </a:solidFill>
          <a:ln>
            <a:noFill/>
          </a:ln>
        </p:spPr>
        <p:txBody>
          <a:bodyPr wrap="square" anchor="t" lIns="73152" tIns="36576" rIns="73152" bIns="36576"/>
          <a:lstStyle/>
          <a:p>
            <a:endParaRPr lang="en-GB"/>
          </a:p>
        </p:txBody>
      </p:sp>
      <p:sp>
        <p:nvSpPr>
          <p:cNvPr id="103" name="kpi-card"/>
          <p:cNvSpPr/>
          <p:nvPr/>
        </p:nvSpPr>
        <p:spPr>
          <a:xfrm>
            <a:off x="9079992" y="2039112"/>
            <a:ext cx="2706624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t" lIns="73152" tIns="36576" rIns="73152" bIns="36576"/>
          <a:lstStyle/>
          <a:p>
            <a:endParaRPr lang="en-GB"/>
          </a:p>
        </p:txBody>
      </p:sp>
      <p:sp>
        <p:nvSpPr>
          <p:cNvPr id="104" name="kpi-txt"/>
          <p:cNvSpPr/>
          <p:nvPr/>
        </p:nvSpPr>
        <p:spPr>
          <a:xfrm>
            <a:off x="9125712" y="2130552"/>
            <a:ext cx="2615184" cy="832104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>
              <a:spcAft>
                <a:spcPts val="200"/>
              </a:spcAft>
            </a:pPr>
            <a:r>
              <a:rPr lang="en-GB" sz="1050" b="1">
                <a:solidFill>
                  <a:srgbClr val="64748B"/>
                </a:solidFill>
                <a:latin typeface="Segoe UI"/>
              </a:rPr>
              <a:t>Dev Hours Delivered</a:t>
            </a:r>
          </a:p>
          <a:p>
            <a:pPr algn="l">
              <a:spcAft>
                <a:spcPts val="100"/>
              </a:spcAft>
            </a:pPr>
            <a:r>
              <a:rPr lang="en-GB" sz="2000" b="1">
                <a:solidFill>
                  <a:srgbClr val="45.9%"/>
                </a:solidFill>
                <a:latin typeface="Segoe UI"/>
              </a:rPr>
              <a:t>536h 51m</a:t>
            </a:r>
          </a:p>
          <a:p>
            <a:pPr algn="l"/>
            <a:r>
              <a:rPr lang="en-GB" sz="950">
                <a:solidFill>
                  <a:srgbClr val="64748B"/>
                </a:solidFill>
                <a:latin typeface="Segoe UI"/>
              </a:rPr>
              <a:t>+</a:t>
            </a:r>
          </a:p>
        </p:txBody>
      </p:sp>
      <p:sp>
        <p:nvSpPr>
          <p:cNvPr id="106" name="sh"/>
          <p:cNvSpPr/>
          <p:nvPr/>
        </p:nvSpPr>
        <p:spPr>
          <a:xfrm>
            <a:off x="411480" y="3246120"/>
            <a:ext cx="731520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GB" sz="1300" b="1">
                <a:solidFill>
                  <a:srgbClr val="0F172A"/>
                </a:solidFill>
                <a:latin typeface="Segoe UI"/>
              </a:rPr>
              <a:t>Key Insights</a:t>
            </a:r>
          </a:p>
        </p:txBody>
      </p:sp>
      <p:sp>
        <p:nvSpPr>
          <p:cNvPr id="110" name="ins"/>
          <p:cNvSpPr/>
          <p:nvPr/>
        </p:nvSpPr>
        <p:spPr>
          <a:xfrm>
            <a:off x="411480" y="3566160"/>
            <a:ext cx="11375136" cy="283464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 marL="228600" indent="-228600">
              <a:spcAft>
                <a:spcPts val="500"/>
              </a:spcAft>
              <a:buFont typeface="Arial"/>
              <a:buChar char="•"/>
            </a:pPr>
            <a:r>
              <a:rPr lang="en-GB" sz="1100">
                <a:solidFill>
                  <a:srgbClr val="1E293B"/>
                </a:solidFill>
                <a:latin typeface="Segoe UI"/>
              </a:rPr>
              <a:t>Collection position: Â£32,834.40 of Â£39,049.20 invoiced value collected (84.1%); Â£6,214.80 (15.9%) remains outstanding.</a:t>
            </a:r>
          </a:p>
          <a:p>
            <a:pPr algn="l" marL="228600" indent="-228600">
              <a:spcAft>
                <a:spcPts val="500"/>
              </a:spcAft>
              <a:buFont typeface="Arial"/>
              <a:buChar char="•"/>
            </a:pPr>
            <a:r>
              <a:rPr lang="en-GB" sz="1100">
                <a:solidFill>
                  <a:srgbClr val="1E293B"/>
                </a:solidFill>
                <a:latin typeface="Segoe UI"/>
              </a:rPr>
              <a:t>SEO is the largest service line: Â£33,678.00 invoiced (86.2% of total) vs Development Â£5,371.20.</a:t>
            </a:r>
          </a:p>
          <a:p>
            <a:pPr algn="l" marL="228600" indent="-228600">
              <a:spcAft>
                <a:spcPts val="500"/>
              </a:spcAft>
              <a:buFont typeface="Arial"/>
              <a:buChar char="•"/>
            </a:pPr>
            <a:r>
              <a:rPr lang="en-GB" sz="1100">
                <a:solidFill>
                  <a:srgbClr val="1E293B"/>
                </a:solidFill>
                <a:latin typeface="Segoe UI"/>
              </a:rPr>
              <a:t>Patrick Shoes Limited is the top client (Â£17,312.40, 44.3% of revenue) and also carries the highest unpaid exposure (Â£1,196.40).</a:t>
            </a:r>
          </a:p>
          <a:p>
            <a:pPr algn="l" marL="228600" indent="-228600">
              <a:spcAft>
                <a:spcPts val="500"/>
              </a:spcAft>
              <a:buFont typeface="Arial"/>
              <a:buChar char="•"/>
            </a:pPr>
            <a:r>
              <a:rPr lang="en-GB" sz="1100">
                <a:solidFill>
                  <a:srgbClr val="1E293B"/>
                </a:solidFill>
                <a:latin typeface="Segoe UI"/>
              </a:rPr>
              <a:t>Development delivery is significantly over estimate: 536h 51m logged vs 367h 50m estimated (+45.9%).</a:t>
            </a:r>
          </a:p>
          <a:p>
            <a:pPr algn="l" marL="228600" indent="-228600">
              <a:spcAft>
                <a:spcPts val="500"/>
              </a:spcAft>
              <a:buFont typeface="Arial"/>
              <a:buChar char="•"/>
            </a:pPr>
            <a:r>
              <a:rPr lang="en-GB" sz="1100">
                <a:solidFill>
                  <a:srgbClr val="1E293B"/>
                </a:solidFill>
                <a:latin typeface="Segoe UI"/>
              </a:rPr>
              <a:t>328h 55m of development effort (approx Â£3,289.17 at Â£10/hr) has no identified invoice â€” a billing gap.</a:t>
            </a:r>
          </a:p>
          <a:p>
            <a:pPr algn="l" marL="228600" indent="-228600">
              <a:spcAft>
                <a:spcPts val="500"/>
              </a:spcAft>
              <a:buFont typeface="Arial"/>
              <a:buChar char="•"/>
            </a:pPr>
            <a:r>
              <a:rPr lang="en-GB" sz="1100">
                <a:solidFill>
                  <a:srgbClr val="1E293B"/>
                </a:solidFill>
                <a:latin typeface="Segoe UI"/>
              </a:rPr>
              <a:t>20 invoices totalling Â£5,496.00 are past due; the oldest unpaid invoice is 194 days past its due date (SUPERHOUSE (UK) LIMITED).</a:t>
            </a:r>
          </a:p>
          <a:p>
            <a:pPr algn="l" marL="228600" indent="-228600">
              <a:spcAft>
                <a:spcPts val="500"/>
              </a:spcAft>
              <a:buFont typeface="Arial"/>
              <a:buChar char="•"/>
            </a:pPr>
            <a:r>
              <a:rPr lang="en-GB" sz="1100">
                <a:solidFill>
                  <a:srgbClr val="1E293B"/>
                </a:solidFill>
                <a:latin typeface="Segoe UI"/>
              </a:rPr>
              <a:t>2023-2025 cohorts are 100% collected; the entire outstanding balance sits in the 2026 invoice cohort (Â£6,214.80).</a:t>
            </a:r>
          </a:p>
        </p:txBody>
      </p:sp>
      <p:sp>
        <p:nvSpPr>
          <p:cNvPr id="114" name="fline"/>
          <p:cNvSpPr/>
          <p:nvPr/>
        </p:nvSpPr>
        <p:spPr>
          <a:xfrm>
            <a:off x="411480" y="6510528"/>
            <a:ext cx="11375136" cy="10973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wrap="square" anchor="t" lIns="73152" tIns="36576" rIns="73152" bIns="36576"/>
          <a:lstStyle/>
          <a:p>
            <a:endParaRPr lang="en-GB"/>
          </a:p>
        </p:txBody>
      </p:sp>
      <p:sp>
        <p:nvSpPr>
          <p:cNvPr id="115" name="ftext"/>
          <p:cNvSpPr/>
          <p:nvPr/>
        </p:nvSpPr>
        <p:spPr>
          <a:xfrm>
            <a:off x="411480" y="6547104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GB" sz="850">
                <a:solidFill>
                  <a:srgbClr val="64748B"/>
                </a:solidFill>
                <a:latin typeface="Segoe UI"/>
              </a:rPr>
              <a:t>Confidential — Management Use Only  |  Invoice, Project &amp; Development Effort Analysis  |  Data as of 2026-08-19</a:t>
            </a:r>
          </a:p>
        </p:txBody>
      </p:sp>
      <p:sp>
        <p:nvSpPr>
          <p:cNvPr id="116" name="pnum"/>
          <p:cNvSpPr/>
          <p:nvPr/>
        </p:nvSpPr>
        <p:spPr>
          <a:xfrm>
            <a:off x="10881360" y="6547104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r"/>
            <a:r>
              <a:rPr lang="en-GB" sz="850">
                <a:solidFill>
                  <a:srgbClr val="64748B"/>
                </a:solidFill>
                <a:latin typeface="Segoe UI"/>
              </a:rPr>
              <a:t>2 /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gmtTheme">
  <a:themeElements>
    <a:clrScheme name="Mgmt">
      <a:dk1>
        <a:srgbClr val="0F172A"/>
      </a:dk1>
      <a:lt1>
        <a:srgbClr val="FFFFFF"/>
      </a:lt1>
      <a:dk2>
        <a:srgbClr val="1E293B"/>
      </a:dk2>
      <a:lt2>
        <a:srgbClr val="F1F5F9"/>
      </a:lt2>
      <a:accent1>
        <a:srgbClr val="1E40AF"/>
      </a:accent1>
      <a:accent2>
        <a:srgbClr val="15803D"/>
      </a:accent2>
      <a:accent3>
        <a:srgbClr val="B91C1C"/>
      </a:accent3>
      <a:accent4>
        <a:srgbClr val="0D9488"/>
      </a:accent4>
      <a:accent5>
        <a:srgbClr val="4F46E5"/>
      </a:accent5>
      <a:accent6>
        <a:srgbClr val="B45309"/>
      </a:accent6>
      <a:hlink>
        <a:srgbClr val="1E40AF"/>
      </a:hlink>
      <a:folHlink>
        <a:srgbClr val="64748B"/>
      </a:folHlink>
    </a:clrScheme>
    <a:fontScheme name="Segoe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Mgmt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PowerPoint</Application>
  <PresentationFormat>Widescreen</PresentationFormat>
  <Slides>1</Slides>
  <Company/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Invoice, Project &amp; Development Effort Analysis</dc:title>
  <dc:subject>Management Review 2023 - Present</dc:subject>
  <dc:creator>Business Analysis</dc:creator>
  <cp:lastModifiedBy>Business Analysis</cp:lastModifiedBy>
  <dcterms:created xsi:type="dcterms:W3CDTF">2026-08-19T09:00:00Z</dcterms:created>
  <dcterms:modified xsi:type="dcterms:W3CDTF">2026-08-19T09:00:00Z</dcterms:modified>
</cp:coreProperties>
</file>