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19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WHAT IS OUR OVERALL POSITION?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Financial Performance Overview</a:t>
            </a:r>
          </a:p>
        </p:txBody>
      </p:sp>
      <p:sp>
        <p:nvSpPr>
          <p:cNvPr id="122" name="kpi-strip"/>
          <p:cNvSpPr/>
          <p:nvPr/>
        </p:nvSpPr>
        <p:spPr>
          <a:xfrm>
            <a:off x="411480" y="1005840"/>
            <a:ext cx="420624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3" name="kpi-card"/>
          <p:cNvSpPr/>
          <p:nvPr/>
        </p:nvSpPr>
        <p:spPr>
          <a:xfrm>
            <a:off x="411480" y="1005840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4" name="kpi-txt"/>
          <p:cNvSpPr/>
          <p:nvPr/>
        </p:nvSpPr>
        <p:spPr>
          <a:xfrm>
            <a:off x="457200" y="1097280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£39,049.20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net £32,541.00 + VAT £6,508.20</a:t>
            </a:r>
          </a:p>
        </p:txBody>
      </p:sp>
      <p:sp>
        <p:nvSpPr>
          <p:cNvPr id="126" name="kpi-strip"/>
          <p:cNvSpPr/>
          <p:nvPr/>
        </p:nvSpPr>
        <p:spPr>
          <a:xfrm>
            <a:off x="411480" y="2039112"/>
            <a:ext cx="420624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7" name="kpi-card"/>
          <p:cNvSpPr/>
          <p:nvPr/>
        </p:nvSpPr>
        <p:spPr>
          <a:xfrm>
            <a:off x="411480" y="2039112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28" name="kpi-txt"/>
          <p:cNvSpPr/>
          <p:nvPr/>
        </p:nvSpPr>
        <p:spPr>
          <a:xfrm>
            <a:off x="457200" y="2130552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£32,834.40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104 paid invoices</a:t>
            </a:r>
          </a:p>
        </p:txBody>
      </p:sp>
      <p:sp>
        <p:nvSpPr>
          <p:cNvPr id="130" name="kpi-strip"/>
          <p:cNvSpPr/>
          <p:nvPr/>
        </p:nvSpPr>
        <p:spPr>
          <a:xfrm>
            <a:off x="411480" y="3072384"/>
            <a:ext cx="4206240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1" name="kpi-card"/>
          <p:cNvSpPr/>
          <p:nvPr/>
        </p:nvSpPr>
        <p:spPr>
          <a:xfrm>
            <a:off x="411480" y="3072384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2" name="kpi-txt"/>
          <p:cNvSpPr/>
          <p:nvPr/>
        </p:nvSpPr>
        <p:spPr>
          <a:xfrm>
            <a:off x="457200" y="3163824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B91C1C"/>
                </a:solidFill>
                <a:latin typeface="Segoe UI"/>
              </a:rPr>
              <a:t>£6,214.80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21 unpaid invoices</a:t>
            </a:r>
          </a:p>
        </p:txBody>
      </p:sp>
      <p:sp>
        <p:nvSpPr>
          <p:cNvPr id="134" name="kpi-strip"/>
          <p:cNvSpPr/>
          <p:nvPr/>
        </p:nvSpPr>
        <p:spPr>
          <a:xfrm>
            <a:off x="411480" y="4105656"/>
            <a:ext cx="420624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5" name="kpi-card"/>
          <p:cNvSpPr/>
          <p:nvPr/>
        </p:nvSpPr>
        <p:spPr>
          <a:xfrm>
            <a:off x="411480" y="4105656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36" name="kpi-txt"/>
          <p:cNvSpPr/>
          <p:nvPr/>
        </p:nvSpPr>
        <p:spPr>
          <a:xfrm>
            <a:off x="457200" y="4197096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avg 53.9 days to payment</a:t>
            </a:r>
          </a:p>
        </p:txBody>
      </p:sp>
      <p:sp>
        <p:nvSpPr>
          <p:cNvPr id="142" name="callout"/>
          <p:cNvSpPr/>
          <p:nvPr/>
        </p:nvSpPr>
        <p:spPr>
          <a:xfrm>
            <a:off x="4937760" y="5212080"/>
            <a:ext cx="6858000" cy="10058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E40AF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43" name="callout-txt"/>
          <p:cNvSpPr/>
          <p:nvPr/>
        </p:nvSpPr>
        <p:spPr>
          <a:xfrm>
            <a:off x="5047488" y="5285232"/>
            <a:ext cx="6638544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£32,834.40 of £39,049.20 invoiced value has been collected (84.1%). £6,214.80 (15.9%) remains outstanding — all of it in the 2026 invoice cohort.</a:t>
            </a:r>
          </a:p>
        </p:txBody>
      </p:sp>
      <p:sp>
        <p:nvSpPr>
          <p:cNvPr id="14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4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4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3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5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MUCH BUSINESS HAVE WE GENERATED?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Year-wise Financial Performance</a:t>
            </a:r>
          </a:p>
        </p:txBody>
      </p:sp>
      <p:sp>
        <p:nvSpPr>
          <p:cNvPr id="158" name="sh"/>
          <p:cNvSpPr/>
          <p:nvPr/>
        </p:nvSpPr>
        <p:spPr>
          <a:xfrm>
            <a:off x="8001000" y="100584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Observations</a:t>
            </a:r>
          </a:p>
        </p:txBody>
      </p:sp>
      <p:sp>
        <p:nvSpPr>
          <p:cNvPr id="162" name="obs"/>
          <p:cNvSpPr/>
          <p:nvPr/>
        </p:nvSpPr>
        <p:spPr>
          <a:xfrm>
            <a:off x="8001000" y="1371600"/>
            <a:ext cx="3794760" cy="40233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2025 was the highest-revenue year: £14,566.80 across 49 invoices.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2023—2025 cohorts are 100% collected; 2026 collection stands at 50.9%.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Invoiced value grew strongly 2023 to 2025, then moderated in 2026 (£12,669.60).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All outstanding (£6,214.80) was generated by 2026 invoices — driven by the monthly retainer run.</a:t>
            </a:r>
          </a:p>
        </p:txBody>
      </p:sp>
      <p:sp>
        <p:nvSpPr>
          <p:cNvPr id="16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6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6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4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BUSINESS ACQUISITION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Project &amp; Client Growth</a:t>
            </a:r>
          </a:p>
        </p:txBody>
      </p:sp>
      <p:sp>
        <p:nvSpPr>
          <p:cNvPr id="178" name="kpi-strip"/>
          <p:cNvSpPr/>
          <p:nvPr/>
        </p:nvSpPr>
        <p:spPr>
          <a:xfrm>
            <a:off x="7452360" y="1005840"/>
            <a:ext cx="434340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79" name="kpi-card"/>
          <p:cNvSpPr/>
          <p:nvPr/>
        </p:nvSpPr>
        <p:spPr>
          <a:xfrm>
            <a:off x="7452360" y="1005840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0" name="kpi-txt"/>
          <p:cNvSpPr/>
          <p:nvPr/>
        </p:nvSpPr>
        <p:spPr>
          <a:xfrm>
            <a:off x="7498080" y="1097280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</p:txBody>
      </p:sp>
      <p:sp>
        <p:nvSpPr>
          <p:cNvPr id="182" name="kpi-strip"/>
          <p:cNvSpPr/>
          <p:nvPr/>
        </p:nvSpPr>
        <p:spPr>
          <a:xfrm>
            <a:off x="7452360" y="2084832"/>
            <a:ext cx="434340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3" name="kpi-card"/>
          <p:cNvSpPr/>
          <p:nvPr/>
        </p:nvSpPr>
        <p:spPr>
          <a:xfrm>
            <a:off x="7452360" y="2084832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4" name="kpi-txt"/>
          <p:cNvSpPr/>
          <p:nvPr/>
        </p:nvSpPr>
        <p:spPr>
          <a:xfrm>
            <a:off x="7498080" y="2176272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186" name="kpi-strip"/>
          <p:cNvSpPr/>
          <p:nvPr/>
        </p:nvSpPr>
        <p:spPr>
          <a:xfrm>
            <a:off x="7452360" y="3163824"/>
            <a:ext cx="43434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7" name="kpi-card"/>
          <p:cNvSpPr/>
          <p:nvPr/>
        </p:nvSpPr>
        <p:spPr>
          <a:xfrm>
            <a:off x="7452360" y="3163824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88" name="kpi-txt"/>
          <p:cNvSpPr/>
          <p:nvPr/>
        </p:nvSpPr>
        <p:spPr>
          <a:xfrm>
            <a:off x="7498080" y="3255264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Repeat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D9488"/>
                </a:solidFill>
                <a:latin typeface="Segoe UI"/>
              </a:rPr>
              <a:t>4 of 4</a:t>
            </a:r>
          </a:p>
        </p:txBody>
      </p:sp>
      <p:sp>
        <p:nvSpPr>
          <p:cNvPr id="190" name="kpi-strip"/>
          <p:cNvSpPr/>
          <p:nvPr/>
        </p:nvSpPr>
        <p:spPr>
          <a:xfrm>
            <a:off x="7452360" y="4242816"/>
            <a:ext cx="43434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1" name="kpi-card"/>
          <p:cNvSpPr/>
          <p:nvPr/>
        </p:nvSpPr>
        <p:spPr>
          <a:xfrm>
            <a:off x="7452360" y="4242816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2" name="kpi-txt"/>
          <p:cNvSpPr/>
          <p:nvPr/>
        </p:nvSpPr>
        <p:spPr>
          <a:xfrm>
            <a:off x="7498080" y="4334256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Avg Projects / Client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D9488"/>
                </a:solidFill>
                <a:latin typeface="Segoe UI"/>
              </a:rPr>
              <a:t>2.25</a:t>
            </a:r>
          </a:p>
        </p:txBody>
      </p:sp>
      <p:sp>
        <p:nvSpPr>
          <p:cNvPr id="194" name="callout"/>
          <p:cNvSpPr/>
          <p:nvPr/>
        </p:nvSpPr>
        <p:spPr>
          <a:xfrm>
            <a:off x="411480" y="5349240"/>
            <a:ext cx="11384280" cy="86868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5" name="callout-txt"/>
          <p:cNvSpPr/>
          <p:nvPr/>
        </p:nvSpPr>
        <p:spPr>
          <a:xfrm>
            <a:off x="521208" y="5422392"/>
            <a:ext cx="11164824" cy="72237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All 4 clients appear across multiple years and receive recurring monthly retainer invoices — the business is entirely repeat/retainer-driven, with acquisition concentrated in 2024 (3 new clients, 6 new projects).</a:t>
            </a:r>
          </a:p>
        </p:txBody>
      </p:sp>
      <p:sp>
        <p:nvSpPr>
          <p:cNvPr id="198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99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200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5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4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