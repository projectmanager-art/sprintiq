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 type="screen16x9"/>
  <p:notesSz cx="6858000" cy="9144000"/>
  <p:defaultTextStyle>
    <a:defPPr>
      <a:defRPr lang="en-GB"/>
    </a:defPPr>
    <a:lvl1pPr marL="0" algn="l" defTabSz="914400" rtl="0">
      <a:defRPr sz="1200">
        <a:latin typeface="Segoe UI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00" Type="http://schemas.openxmlformats.org/officeDocument/2006/relationships/presProps" Target="presProps.xml"/><Relationship Id="rId101" Type="http://schemas.openxmlformats.org/officeDocument/2006/relationships/viewProps" Target="viewProps.xml"/><Relationship Id="rId102" Type="http://schemas.openxmlformats.org/officeDocument/2006/relationships/tableStyles" Target="tableStyles.xml"/><Relationship Id="rId103" Type="http://schemas.openxmlformats.org/officeDocument/2006/relationships/theme" Target="theme/theme1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1_data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2_data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3_data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4_data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5_data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6_data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7_data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8_data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chart9_data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GBP</c:v>
                </c:pt>
              </c:strCache>
            </c:strRef>
          </c:tx>
          <c:spPr>
            <a:solidFill>
              <a:srgbClr val="1E40AF"/>
            </a:solidFill>
          </c:spPr>
          <c:dPt>
            <c:idx val="0"/>
            <c:bubble3D val="0"/>
            <c:spPr>
              <a:solidFill>
                <a:srgbClr val="1E40AF"/>
              </a:solidFill>
            </c:spPr>
          </c:dPt>
          <c:dPt>
            <c:idx val="1"/>
            <c:bubble3D val="0"/>
            <c:spPr>
              <a:solidFill>
                <a:srgbClr val="15803D"/>
              </a:solidFill>
            </c:spPr>
          </c:dPt>
          <c:dPt>
            <c:idx val="2"/>
            <c:bubble3D val="0"/>
            <c:spPr>
              <a:solidFill>
                <a:srgbClr val="B91C1C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Invoiced (gross)</c:v>
                </c:pt>
                <c:pt idx="1">
                  <c:v>Collected</c:v>
                </c:pt>
                <c:pt idx="2">
                  <c:v>Outstanding</c:v>
                </c:pt>
              </c:strCache>
            </c:strRef>
          </c:cat>
          <c:val>
            <c:numRef>
              <c:f>Sheet1!$B$2:$B$4</c:f>
              <c:numCache>
                <c:formatCode>£#,##0</c:formatCode>
                <c:ptCount val="3"/>
                <c:pt idx="0">
                  <c:v>39049.2</c:v>
                </c:pt>
                <c:pt idx="1">
                  <c:v>32834.4</c:v>
                </c:pt>
                <c:pt idx="2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Invoiced vs Collected vs Outstanding by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12669.6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Collected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474</c:v>
                </c:pt>
                <c:pt idx="1">
                  <c:v>11338.8</c:v>
                </c:pt>
                <c:pt idx="2">
                  <c:v>14566.8</c:v>
                </c:pt>
                <c:pt idx="3">
                  <c:v>6454.8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Sheet1!$D$2:$D$5</c:f>
              <c:numCache>
                <c:formatCode>£#,##0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6214.8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New Projects &amp; New Clients per Year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New Projects</c:v>
                </c:pt>
              </c:strCache>
            </c:strRef>
          </c:tx>
          <c:spPr>
            <a:solidFill>
              <a:srgbClr val="B45309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1</c:v>
                </c:pt>
                <c:pt idx="1">
                  <c:v>6</c:v>
                </c:pt>
                <c:pt idx="2">
                  <c:v>1</c:v>
                </c:pt>
                <c:pt idx="3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New Clients</c:v>
                </c:pt>
              </c:strCache>
            </c:strRef>
          </c:tx>
          <c:spPr>
            <a:solidFill>
              <a:srgbClr val="0D9488"/>
            </a:solidFill>
          </c:spPr>
          <c:dLbls>
            <c:numFmt formatCode="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Sheet1!$A$2:$A$5</c:f>
              <c:strCache>
                <c:ptCount val="4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1</c:v>
                </c:pt>
                <c:pt idx="1">
                  <c:v>3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Service Line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Invoiced</c:v>
                </c:pt>
              </c:strCache>
            </c:strRef>
          </c:tx>
          <c:spPr>
            <a:solidFill>
              <a:srgbClr val="1E40AF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Sheet1!$B$2:$B$3</c:f>
              <c:numCache>
                <c:formatCode>£#,##0</c:formatCode>
                <c:ptCount val="2"/>
                <c:pt idx="0">
                  <c:v>33678</c:v>
                </c:pt>
                <c:pt idx="1">
                  <c:v>5371.2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Sheet1!$C$2:$C$3</c:f>
              <c:numCache>
                <c:formatCode>£#,##0</c:formatCode>
                <c:ptCount val="2"/>
                <c:pt idx="0">
                  <c:v>28182</c:v>
                </c:pt>
                <c:pt idx="1">
                  <c:v>4652.4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Sheet1!$A$2:$A$3</c:f>
              <c:strCache>
                <c:ptCount val="2"/>
                <c:pt idx="0">
                  <c:v>SEO</c:v>
                </c:pt>
                <c:pt idx="1">
                  <c:v>Development</c:v>
                </c:pt>
              </c:strCache>
            </c:strRef>
          </c:cat>
          <c:val>
            <c:numRef>
              <c:f>Sheet1!$D$2:$D$3</c:f>
              <c:numCache>
                <c:formatCode>£#,##0</c:formatCode>
                <c:ptCount val="2"/>
                <c:pt idx="0">
                  <c:v>5496</c:v>
                </c:pt>
                <c:pt idx="1">
                  <c:v>718.8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Estimated vs Workload vs Actual (hours)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64748B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4F46E5"/>
              </a:solidFill>
            </c:spPr>
          </c:dPt>
          <c:dLbls>
            <c:numFmt formatCode="0.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Estimated</c:v>
                </c:pt>
                <c:pt idx="1">
                  <c:v>Planned Workload</c:v>
                </c:pt>
                <c:pt idx="2">
                  <c:v>Actual Logged</c:v>
                </c:pt>
              </c:strCache>
            </c:strRef>
          </c:cat>
          <c:val>
            <c:numRef>
              <c:f>Sheet1!$B$2:$B$4</c:f>
              <c:numCache>
                <c:formatCode>0.0"h"</c:formatCode>
                <c:ptCount val="3"/>
                <c:pt idx="0">
                  <c:v>367.833333333333</c:v>
                </c:pt>
                <c:pt idx="1">
                  <c:v>402.616666666667</c:v>
                </c:pt>
                <c:pt idx="2">
                  <c:v>536.85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.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Development Hours: Delivered - Billed - Paid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4F46E5"/>
            </a:solidFill>
          </c:spPr>
          <c:dPt>
            <c:idx val="0"/>
            <c:bubble3D val="0"/>
            <c:spPr>
              <a:solidFill>
                <a:srgbClr val="4F46E5"/>
              </a:solidFill>
            </c:spPr>
          </c:dPt>
          <c:dPt>
            <c:idx val="1"/>
            <c:bubble3D val="0"/>
            <c:spPr>
              <a:solidFill>
                <a:srgbClr val="B45309"/>
              </a:solidFill>
            </c:spPr>
          </c:dPt>
          <c:dPt>
            <c:idx val="2"/>
            <c:bubble3D val="0"/>
            <c:spPr>
              <a:solidFill>
                <a:srgbClr val="15803D"/>
              </a:solidFill>
            </c:spPr>
          </c:dPt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Sheet1!$A$2:$A$4</c:f>
              <c:strCache>
                <c:ptCount val="3"/>
                <c:pt idx="0">
                  <c:v>Delivered</c:v>
                </c:pt>
                <c:pt idx="1">
                  <c:v>Billed</c:v>
                </c:pt>
                <c:pt idx="2">
                  <c:v>Paid</c:v>
                </c:pt>
              </c:strCache>
            </c:strRef>
          </c:cat>
          <c:val>
            <c:numRef>
              <c:f>Sheet1!$B$2:$B$4</c:f>
              <c:numCache>
                <c:formatCode>0"h"</c:formatCode>
                <c:ptCount val="3"/>
                <c:pt idx="0">
                  <c:v>536.85</c:v>
                </c:pt>
                <c:pt idx="1">
                  <c:v>177.9</c:v>
                </c:pt>
                <c:pt idx="2">
                  <c:v>122.116666666667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Client Paid vs Outstanding</a:t>
            </a:r>
          </a:p>
        </c:rich>
      </c:tx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Sheet1!$B$2:$B$5</c:f>
              <c:numCache>
                <c:formatCode>£#,##0</c:formatCode>
                <c:ptCount val="4"/>
                <c:pt idx="0">
                  <c:v>1194</c:v>
                </c:pt>
                <c:pt idx="1">
                  <c:v>1196.4</c:v>
                </c:pt>
                <c:pt idx="2">
                  <c:v>1671.6</c:v>
                </c:pt>
                <c:pt idx="3">
                  <c:v>2152.8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Paid</c:v>
                </c:pt>
              </c:strCache>
            </c:strRef>
          </c:tx>
          <c:spPr>
            <a:solidFill>
              <a:srgbClr val="15803D"/>
            </a:solidFill>
          </c:spPr>
          <c:cat>
            <c:strRef>
              <c:f>Sheet1!$A$2:$A$5</c:f>
              <c:strCache>
                <c:ptCount val="4"/>
                <c:pt idx="0">
                  <c:v>NOMADS CLOTHING</c:v>
                </c:pt>
                <c:pt idx="1">
                  <c:v>BRIGGS INDUSTRIAL FOOTWEAR</c:v>
                </c:pt>
                <c:pt idx="2">
                  <c:v>SUPERHOUSE</c:v>
                </c:pt>
                <c:pt idx="3">
                  <c:v>Patrick Shoes</c:v>
                </c:pt>
              </c:strCache>
            </c:strRef>
          </c:cat>
          <c:val>
            <c:numRef>
              <c:f>Sheet1!$C$2:$C$5</c:f>
              <c:numCache>
                <c:formatCode>£#,##0</c:formatCode>
                <c:ptCount val="4"/>
                <c:pt idx="0">
                  <c:v>7527</c:v>
                </c:pt>
                <c:pt idx="1">
                  <c:v>5972.4</c:v>
                </c:pt>
                <c:pt idx="2">
                  <c:v>4175.4</c:v>
                </c:pt>
                <c:pt idx="3">
                  <c:v>15159.6</c:v>
                </c:pt>
              </c:numCache>
            </c:numRef>
          </c:val>
        </c:ser>
        <c:gapWidth val="60"/>
        <c:overlap val="10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legend>
      <c:legendPos val="b"/>
      <c:overlay val="0"/>
      <c:txPr>
        <a:bodyPr/>
        <a:lstStyle/>
        <a:p>
          <a:pPr>
            <a:defRPr sz="1000">
              <a:solidFill>
                <a:srgbClr val="475569"/>
              </a:solidFill>
              <a:latin typeface="Segoe UI"/>
            </a:defRPr>
          </a:pPr>
          <a:endParaRPr lang="en-GB"/>
        </a:p>
      </c:txPr>
    </c:legend>
    <c:plotVisOnly val="1"/>
    <c:dispBlanksAs val="gap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Outstanding by Days Past Due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Outstanding</c:v>
                </c:pt>
              </c:strCache>
            </c:strRef>
          </c:tx>
          <c:spPr>
            <a:solidFill>
              <a:srgbClr val="B91C1C"/>
            </a:solidFill>
          </c:spPr>
          <c:dPt>
            <c:idx val="0"/>
            <c:bubble3D val="0"/>
            <c:spPr>
              <a:solidFill>
                <a:srgbClr val="64748B"/>
              </a:solidFill>
            </c:spPr>
          </c:dPt>
          <c:dPt>
            <c:idx val="1"/>
            <c:bubble3D val="0"/>
            <c:spPr>
              <a:solidFill>
                <a:srgbClr val="F59E0B"/>
              </a:solidFill>
            </c:spPr>
          </c:dPt>
          <c:dPt>
            <c:idx val="2"/>
            <c:bubble3D val="0"/>
            <c:spPr>
              <a:solidFill>
                <a:srgbClr val="F97316"/>
              </a:solidFill>
            </c:spPr>
          </c:dPt>
          <c:dPt>
            <c:idx val="3"/>
            <c:bubble3D val="0"/>
            <c:spPr>
              <a:solidFill>
                <a:srgbClr val="DC2626"/>
              </a:solidFill>
            </c:spPr>
          </c:dPt>
          <c:dPt>
            <c:idx val="4"/>
            <c:bubble3D val="0"/>
            <c:spPr>
              <a:solidFill>
                <a:srgbClr val="991B1B"/>
              </a:solidFill>
            </c:spPr>
          </c:dPt>
          <c:dPt>
            <c:idx val="5"/>
            <c:bubble3D val="0"/>
            <c:spPr>
              <a:solidFill>
                <a:srgbClr val="7F1D1D"/>
              </a:solidFill>
            </c:spPr>
          </c:dPt>
          <c:dPt>
            <c:idx val="6"/>
            <c:bubble3D val="0"/>
            <c:spPr>
              <a:solidFill>
                <a:srgbClr val="450A0A"/>
              </a:solidFill>
            </c:spPr>
          </c:dPt>
          <c:dLbls>
            <c:numFmt formatCode="£#,##0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Sheet1!$A$2:$A$8</c:f>
              <c:strCache>
                <c:ptCount val="7"/>
                <c:pt idx="0">
                  <c:v>Not yet due</c:v>
                </c:pt>
                <c:pt idx="1">
                  <c:v>1-30 days</c:v>
                </c:pt>
                <c:pt idx="2">
                  <c:v>31-60 days</c:v>
                </c:pt>
                <c:pt idx="3">
                  <c:v>61-90 days</c:v>
                </c:pt>
                <c:pt idx="4">
                  <c:v>91-180 days</c:v>
                </c:pt>
                <c:pt idx="5">
                  <c:v>181-365 days</c:v>
                </c:pt>
                <c:pt idx="6">
                  <c:v>365+ days</c:v>
                </c:pt>
              </c:strCache>
            </c:strRef>
          </c:cat>
          <c:val>
            <c:numRef>
              <c:f>Sheet1!$B$2:$B$8</c:f>
              <c:numCache>
                <c:formatCode>£#,##0</c:formatCode>
                <c:ptCount val="7"/>
                <c:pt idx="0">
                  <c:v>718.8</c:v>
                </c:pt>
                <c:pt idx="1">
                  <c:v>1434</c:v>
                </c:pt>
                <c:pt idx="2">
                  <c:v>1434</c:v>
                </c:pt>
                <c:pt idx="3">
                  <c:v>1195.2</c:v>
                </c:pt>
                <c:pt idx="4">
                  <c:v>1194</c:v>
                </c:pt>
                <c:pt idx="5">
                  <c:v>238.8</c:v>
                </c:pt>
                <c:pt idx="6">
                  <c:v>0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b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l"/>
        <c:majorGridlines>
          <c:spPr>
            <a:ln>
              <a:solidFill>
                <a:srgbClr val="E2E8F0"/>
              </a:solidFill>
            </a:ln>
          </c:spPr>
        </c:majorGridlines>
        <c:numFmt formatCode="£#,##0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en-GB"/>
  <c:chart>
    <c:title>
      <c:tx>
        <c:rich>
          <a:bodyPr/>
          <a:lstStyle/>
          <a:p>
            <a:pPr>
              <a:defRPr sz="1200" b="1">
                <a:solidFill>
                  <a:srgbClr val="0F172A"/>
                </a:solidFill>
                <a:latin typeface="Segoe UI"/>
              </a:defRPr>
            </a:pPr>
            <a:r>
              <a:rPr lang="en-GB" sz="1200" b="1">
                <a:solidFill>
                  <a:srgbClr val="0F172A"/>
                </a:solidFill>
                <a:latin typeface="Segoe UI"/>
              </a:rPr>
              <a:t>Actual minus Estimated Hours by Project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Variance (hours)</c:v>
                </c:pt>
              </c:strCache>
            </c:strRef>
          </c:tx>
          <c:spPr>
            <a:solidFill>
              <a:srgbClr val="B91C1C"/>
            </a:solidFill>
          </c:spPr>
          <c:dLbls>
            <c:numFmt formatCode="0&quot;h&quot;" sourceLinked="0"/>
            <c:showLegendKey val="0"/>
            <c:showVal val="1"/>
            <c:showCatName val="0"/>
            <c:showSerName val="0"/>
            <c:showPercent val="0"/>
            <c:showBubbleSize val="0"/>
          </c:dLbls>
          <c:cat>
            <c:strRef>
              <c:f>Sheet1!$A$2:$A$9</c:f>
              <c:strCache>
                <c:ptCount val="8"/>
                <c:pt idx="0">
                  <c:v>FOOTWEAR DEPOT - 1</c:v>
                </c:pt>
                <c:pt idx="1">
                  <c:v>Silver Street London</c:v>
                </c:pt>
                <c:pt idx="2">
                  <c:v>AMEN SHOES</c:v>
                </c:pt>
                <c:pt idx="3">
                  <c:v>Nomads Trade Website</c:v>
                </c:pt>
                <c:pt idx="4">
                  <c:v>Nomads Clothing</c:v>
                </c:pt>
                <c:pt idx="5">
                  <c:v>Nomads Saige</c:v>
                </c:pt>
                <c:pt idx="6">
                  <c:v>CATESBY ENGLAND</c:v>
                </c:pt>
                <c:pt idx="7">
                  <c:v>NWT</c:v>
                </c:pt>
              </c:strCache>
            </c:strRef>
          </c:cat>
          <c:val>
            <c:numRef>
              <c:f>Sheet1!$B$2:$B$9</c:f>
              <c:numCache>
                <c:formatCode>0"h"</c:formatCode>
                <c:ptCount val="8"/>
                <c:pt idx="0">
                  <c:v>-28.5</c:v>
                </c:pt>
                <c:pt idx="1">
                  <c:v>-9.1</c:v>
                </c:pt>
                <c:pt idx="2">
                  <c:v>15.2</c:v>
                </c:pt>
                <c:pt idx="3">
                  <c:v>17.1</c:v>
                </c:pt>
                <c:pt idx="4">
                  <c:v>22</c:v>
                </c:pt>
                <c:pt idx="5">
                  <c:v>35</c:v>
                </c:pt>
                <c:pt idx="6">
                  <c:v>53</c:v>
                </c:pt>
                <c:pt idx="7">
                  <c:v>64.3</c:v>
                </c:pt>
              </c:numCache>
            </c:numRef>
          </c:val>
        </c:ser>
        <c:gapWidth val="80"/>
        <c:axId val="100000001"/>
        <c:axId val="100000002"/>
      </c:barChart>
      <c:catAx>
        <c:axId val="100000001"/>
        <c:scaling>
          <c:orientation val="minMax"/>
        </c:scaling>
        <c:delete val="0"/>
        <c:axPos val="l"/>
        <c:majorTickMark val="none"/>
        <c:tickLblPos val="nextTo"/>
        <c:spPr>
          <a:ln>
            <a:solidFill>
              <a:srgbClr val="CBD5E1"/>
            </a:solidFill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2"/>
        <c:crosses val="autoZero"/>
        <c:auto val="1"/>
        <c:lblAlgn val="ctr"/>
        <c:lblOffset val="100"/>
      </c:catAx>
      <c:valAx>
        <c:axId val="100000002"/>
        <c:scaling>
          <c:orientation val="minMax"/>
        </c:scaling>
        <c:delete val="0"/>
        <c:axPos val="b"/>
        <c:majorGridlines>
          <c:spPr>
            <a:ln>
              <a:solidFill>
                <a:srgbClr val="E2E8F0"/>
              </a:solidFill>
            </a:ln>
          </c:spPr>
        </c:majorGridlines>
        <c:numFmt formatCode="0&quot;h&quot;" sourceLinked="0"/>
        <c:maj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>
                <a:solidFill>
                  <a:srgbClr val="475569"/>
                </a:solidFill>
                <a:latin typeface="Segoe UI"/>
              </a:defRPr>
            </a:pPr>
            <a:endParaRPr lang="en-GB"/>
          </a:p>
        </c:txPr>
        <c:crossAx val="100000001"/>
        <c:crosses val="autoZero"/>
      </c:valAx>
    </c:plotArea>
    <c:plotVisOnly val="1"/>
    <c:dispBlanksAs val="gap"/>
  </c:chart>
  <c:externalData r:id="rId1">
    <c:autoUpdate val="0"/>
  </c:externalData>
</c:chartSpace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2400" b="1">
          <a:solidFill>
            <a:srgbClr val="0F172A"/>
          </a:solidFill>
          <a:latin typeface="Segoe UI"/>
        </a:defRPr>
      </a:lvl1pPr>
    </p:titleStyle>
    <p:bodyStyle>
      <a:lvl1pPr algn="l">
        <a:defRPr sz="1200">
          <a:solidFill>
            <a:srgbClr val="0F172A"/>
          </a:solidFill>
          <a:latin typeface="Segoe UI"/>
        </a:defRPr>
      </a:lvl1pPr>
    </p:bodyStyle>
    <p:otherStyle>
      <a:lvl1pPr algn="l">
        <a:defRPr sz="1200">
          <a:solidFill>
            <a:srgbClr val="0F172A"/>
          </a:solidFill>
          <a:latin typeface="Segoe UI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3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4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5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6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7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8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101" Type="http://schemas.openxmlformats.org/officeDocument/2006/relationships/chart" Target="../charts/chart9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g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8" name="accent"/>
          <p:cNvSpPr/>
          <p:nvPr/>
        </p:nvSpPr>
        <p:spPr>
          <a:xfrm>
            <a:off x="822960" y="1847088"/>
            <a:ext cx="2011680" cy="45720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2" name="t1"/>
          <p:cNvSpPr/>
          <p:nvPr/>
        </p:nvSpPr>
        <p:spPr>
          <a:xfrm>
            <a:off x="822960" y="2057400"/>
            <a:ext cx="10515600" cy="10058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4000" b="1">
                <a:solidFill>
                  <a:srgbClr val="FFFFFF"/>
                </a:solidFill>
                <a:latin typeface="Segoe UI"/>
              </a:rPr>
              <a:t>Invoice, Project &amp; Development Effort Analysis</a:t>
            </a:r>
          </a:p>
        </p:txBody>
      </p:sp>
      <p:sp>
        <p:nvSpPr>
          <p:cNvPr id="26" name="t2"/>
          <p:cNvSpPr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700">
                <a:solidFill>
                  <a:srgbClr val="93C5FD"/>
                </a:solidFill>
                <a:latin typeface="Segoe UI"/>
              </a:rPr>
              <a:t>Management Review  |  Period: 2023 — Present (as of 2026-08-19)</a:t>
            </a:r>
          </a:p>
        </p:txBody>
      </p:sp>
      <p:sp>
        <p:nvSpPr>
          <p:cNvPr id="30" name="t3"/>
          <p:cNvSpPr/>
          <p:nvPr/>
        </p:nvSpPr>
        <p:spPr>
          <a:xfrm>
            <a:off x="822960" y="365760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200">
                <a:solidFill>
                  <a:srgbClr val="94A3B8"/>
                </a:solidFill>
                <a:latin typeface="Segoe UI"/>
              </a:rPr>
              <a:t>Prepared for Senior Management  |  Source: Invoice Analysis workbook + WorkGrid project dashboard</a:t>
            </a:r>
          </a:p>
        </p:txBody>
      </p:sp>
      <p:sp>
        <p:nvSpPr>
          <p:cNvPr id="34" name="conf"/>
          <p:cNvSpPr/>
          <p:nvPr/>
        </p:nvSpPr>
        <p:spPr>
          <a:xfrm>
            <a:off x="822960" y="4343400"/>
            <a:ext cx="3291840" cy="384048"/>
          </a:xfrm>
          <a:prstGeom prst="roundRect">
            <a:avLst/>
          </a:prstGeom>
          <a:noFill/>
          <a:ln w="12700">
            <a:solidFill>
              <a:srgbClr val="93C5FD"/>
            </a:solidFill>
          </a:ln>
        </p:spPr>
        <p:txBody>
          <a:bodyPr wrap="square" anchor="ctr" lIns="73152" tIns="36576" rIns="73152" bIns="36576"/>
          <a:lstStyle/>
          <a:p>
            <a:pPr algn="ctr"/>
            <a:r>
              <a:rPr lang="en-GB" sz="1050" b="1">
                <a:solidFill>
                  <a:srgbClr val="93C5FD"/>
                </a:solidFill>
                <a:latin typeface="Segoe UI"/>
              </a:rPr>
              <a:t>CONFIDENTIAL — MANAGEMENT USE ONLY</a:t>
            </a:r>
          </a:p>
        </p:txBody>
      </p:sp>
      <p:sp>
        <p:nvSpPr>
          <p:cNvPr id="38" name="mk0"/>
          <p:cNvSpPr/>
          <p:nvPr/>
        </p:nvSpPr>
        <p:spPr>
          <a:xfrm>
            <a:off x="82296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2" name="mkt0"/>
          <p:cNvSpPr/>
          <p:nvPr/>
        </p:nvSpPr>
        <p:spPr>
          <a:xfrm>
            <a:off x="96012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Total Invoiced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£39,049</a:t>
            </a:r>
          </a:p>
        </p:txBody>
      </p:sp>
      <p:sp>
        <p:nvSpPr>
          <p:cNvPr id="46" name="mk1"/>
          <p:cNvSpPr/>
          <p:nvPr/>
        </p:nvSpPr>
        <p:spPr>
          <a:xfrm>
            <a:off x="352044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50" name="mkt1"/>
          <p:cNvSpPr/>
          <p:nvPr/>
        </p:nvSpPr>
        <p:spPr>
          <a:xfrm>
            <a:off x="365760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Collected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£32,834</a:t>
            </a:r>
          </a:p>
        </p:txBody>
      </p:sp>
      <p:sp>
        <p:nvSpPr>
          <p:cNvPr id="54" name="mk2"/>
          <p:cNvSpPr/>
          <p:nvPr/>
        </p:nvSpPr>
        <p:spPr>
          <a:xfrm>
            <a:off x="621792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58" name="mkt2"/>
          <p:cNvSpPr/>
          <p:nvPr/>
        </p:nvSpPr>
        <p:spPr>
          <a:xfrm>
            <a:off x="635508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Outstanding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£6,215</a:t>
            </a:r>
          </a:p>
        </p:txBody>
      </p:sp>
      <p:sp>
        <p:nvSpPr>
          <p:cNvPr id="62" name="mk3"/>
          <p:cNvSpPr/>
          <p:nvPr/>
        </p:nvSpPr>
        <p:spPr>
          <a:xfrm>
            <a:off x="8915400" y="5120640"/>
            <a:ext cx="2468880" cy="96012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66" name="mkt3"/>
          <p:cNvSpPr/>
          <p:nvPr/>
        </p:nvSpPr>
        <p:spPr>
          <a:xfrm>
            <a:off x="9052560" y="5257800"/>
            <a:ext cx="2194560" cy="7315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94A3B8"/>
                </a:solidFill>
                <a:latin typeface="Segoe UI"/>
              </a:rPr>
              <a:t>Dev Hours Delivered</a:t>
            </a:r>
          </a:p>
          <a:p>
            <a:pPr algn="l"/>
            <a:r>
              <a:rPr lang="en-GB" sz="1900" b="1">
                <a:solidFill>
                  <a:srgbClr val="FFFFFF"/>
                </a:solidFill>
                <a:latin typeface="Segoe UI"/>
              </a:rPr>
              <a:t>536h 51m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OVERALL POSITION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Executive Summary</a:t>
            </a:r>
          </a:p>
        </p:txBody>
      </p:sp>
      <p:sp>
        <p:nvSpPr>
          <p:cNvPr id="74" name="kpi-strip"/>
          <p:cNvSpPr/>
          <p:nvPr/>
        </p:nvSpPr>
        <p:spPr>
          <a:xfrm>
            <a:off x="411480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75" name="kpi-card"/>
          <p:cNvSpPr/>
          <p:nvPr/>
        </p:nvSpPr>
        <p:spPr>
          <a:xfrm>
            <a:off x="411480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76" name="kpi-txt"/>
          <p:cNvSpPr/>
          <p:nvPr/>
        </p:nvSpPr>
        <p:spPr>
          <a:xfrm>
            <a:off x="457200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9 invoice-layer + 8 PM</a:t>
            </a:r>
          </a:p>
        </p:txBody>
      </p:sp>
      <p:sp>
        <p:nvSpPr>
          <p:cNvPr id="78" name="kpi-strip"/>
          <p:cNvSpPr/>
          <p:nvPr/>
        </p:nvSpPr>
        <p:spPr>
          <a:xfrm>
            <a:off x="3300984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79" name="kpi-card"/>
          <p:cNvSpPr/>
          <p:nvPr/>
        </p:nvSpPr>
        <p:spPr>
          <a:xfrm>
            <a:off x="3300984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80" name="kpi-txt"/>
          <p:cNvSpPr/>
          <p:nvPr/>
        </p:nvSpPr>
        <p:spPr>
          <a:xfrm>
            <a:off x="3346704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82" name="kpi-strip"/>
          <p:cNvSpPr/>
          <p:nvPr/>
        </p:nvSpPr>
        <p:spPr>
          <a:xfrm>
            <a:off x="6190488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83" name="kpi-card"/>
          <p:cNvSpPr/>
          <p:nvPr/>
        </p:nvSpPr>
        <p:spPr>
          <a:xfrm>
            <a:off x="6190488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84" name="kpi-txt"/>
          <p:cNvSpPr/>
          <p:nvPr/>
        </p:nvSpPr>
        <p:spPr>
          <a:xfrm>
            <a:off x="6236208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125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125 unique IDs</a:t>
            </a:r>
          </a:p>
        </p:txBody>
      </p:sp>
      <p:sp>
        <p:nvSpPr>
          <p:cNvPr id="86" name="kpi-strip"/>
          <p:cNvSpPr/>
          <p:nvPr/>
        </p:nvSpPr>
        <p:spPr>
          <a:xfrm>
            <a:off x="9079992" y="960120"/>
            <a:ext cx="2706624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87" name="kpi-card"/>
          <p:cNvSpPr/>
          <p:nvPr/>
        </p:nvSpPr>
        <p:spPr>
          <a:xfrm>
            <a:off x="9079992" y="96012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88" name="kpi-txt"/>
          <p:cNvSpPr/>
          <p:nvPr/>
        </p:nvSpPr>
        <p:spPr>
          <a:xfrm>
            <a:off x="9125712" y="105156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incl. VAT</a:t>
            </a:r>
          </a:p>
        </p:txBody>
      </p:sp>
      <p:sp>
        <p:nvSpPr>
          <p:cNvPr id="90" name="kpi-strip"/>
          <p:cNvSpPr/>
          <p:nvPr/>
        </p:nvSpPr>
        <p:spPr>
          <a:xfrm>
            <a:off x="411480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91" name="kpi-card"/>
          <p:cNvSpPr/>
          <p:nvPr/>
        </p:nvSpPr>
        <p:spPr>
          <a:xfrm>
            <a:off x="411480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92" name="kpi-txt"/>
          <p:cNvSpPr/>
          <p:nvPr/>
        </p:nvSpPr>
        <p:spPr>
          <a:xfrm>
            <a:off x="457200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</a:t>
            </a:r>
          </a:p>
        </p:txBody>
      </p:sp>
      <p:sp>
        <p:nvSpPr>
          <p:cNvPr id="94" name="kpi-strip"/>
          <p:cNvSpPr/>
          <p:nvPr/>
        </p:nvSpPr>
        <p:spPr>
          <a:xfrm>
            <a:off x="3300984" y="2039112"/>
            <a:ext cx="2706624" cy="64008"/>
          </a:xfrm>
          <a:prstGeom prst="rect">
            <a:avLst/>
          </a:prstGeom>
          <a:solidFill>
            <a:srgbClr val=" of invoice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95" name="kpi-card"/>
          <p:cNvSpPr/>
          <p:nvPr/>
        </p:nvSpPr>
        <p:spPr>
          <a:xfrm>
            <a:off x="3300984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96" name="kpi-txt"/>
          <p:cNvSpPr/>
          <p:nvPr/>
        </p:nvSpPr>
        <p:spPr>
          <a:xfrm>
            <a:off x="3346704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 of invoiced"/>
                </a:solidFill>
                <a:latin typeface="Segoe UI"/>
              </a:rPr>
              <a:t>£6,215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15.9%</a:t>
            </a:r>
          </a:p>
        </p:txBody>
      </p:sp>
      <p:sp>
        <p:nvSpPr>
          <p:cNvPr id="98" name="kpi-strip"/>
          <p:cNvSpPr/>
          <p:nvPr/>
        </p:nvSpPr>
        <p:spPr>
          <a:xfrm>
            <a:off x="6190488" y="2039112"/>
            <a:ext cx="2706624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99" name="kpi-card"/>
          <p:cNvSpPr/>
          <p:nvPr/>
        </p:nvSpPr>
        <p:spPr>
          <a:xfrm>
            <a:off x="6190488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00" name="kpi-txt"/>
          <p:cNvSpPr/>
          <p:nvPr/>
        </p:nvSpPr>
        <p:spPr>
          <a:xfrm>
            <a:off x="6236208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</p:txBody>
      </p:sp>
      <p:sp>
        <p:nvSpPr>
          <p:cNvPr id="102" name="kpi-strip"/>
          <p:cNvSpPr/>
          <p:nvPr/>
        </p:nvSpPr>
        <p:spPr>
          <a:xfrm>
            <a:off x="9079992" y="2039112"/>
            <a:ext cx="2706624" cy="64008"/>
          </a:xfrm>
          <a:prstGeom prst="rect">
            <a:avLst/>
          </a:prstGeom>
          <a:solidFill>
            <a:srgbClr val="45.9%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03" name="kpi-card"/>
          <p:cNvSpPr/>
          <p:nvPr/>
        </p:nvSpPr>
        <p:spPr>
          <a:xfrm>
            <a:off x="9079992" y="2039112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04" name="kpi-txt"/>
          <p:cNvSpPr/>
          <p:nvPr/>
        </p:nvSpPr>
        <p:spPr>
          <a:xfrm>
            <a:off x="9125712" y="2130552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Dev Hours Delivered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5.9%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+</a:t>
            </a:r>
          </a:p>
        </p:txBody>
      </p:sp>
      <p:sp>
        <p:nvSpPr>
          <p:cNvPr id="106" name="sh"/>
          <p:cNvSpPr/>
          <p:nvPr/>
        </p:nvSpPr>
        <p:spPr>
          <a:xfrm>
            <a:off x="411480" y="324612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Insights</a:t>
            </a:r>
          </a:p>
        </p:txBody>
      </p:sp>
      <p:sp>
        <p:nvSpPr>
          <p:cNvPr id="110" name="ins"/>
          <p:cNvSpPr/>
          <p:nvPr/>
        </p:nvSpPr>
        <p:spPr>
          <a:xfrm>
            <a:off x="411480" y="3566160"/>
            <a:ext cx="11375136" cy="2834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Collection position: Â£32,834.40 of Â£39,049.20 invoiced value collected (84.1%); Â£6,214.80 (15.9%) remains outstanding.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SEO is the largest service line: Â£33,678.00 invoiced (86.2% of total) vs Development Â£5,371.20.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Patrick Shoes Limited is the top client (Â£17,312.40, 44.3% of revenue) and also carries the highest unpaid exposure (Â£1,196.40).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Development delivery is significantly over estimate: 536h 51m logged vs 367h 50m estimated (+45.9%).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328h 55m of development effort (approx Â£3,289.17 at Â£10/hr) has no identified invoice â€” a billing gap.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 invoices totalling Â£5,496.00 are past due; the oldest unpaid invoice is 194 days past its due date (SUPERHOUSE (UK) LIMITED).</a:t>
            </a:r>
          </a:p>
          <a:p>
            <a:pPr algn="l" marL="228600" indent="-228600">
              <a:spcAft>
                <a:spcPts val="5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2023-2025 cohorts are 100% collected; the entire outstanding balance sits in the 2026 invoice cohort (Â£6,214.80).</a:t>
            </a:r>
          </a:p>
        </p:txBody>
      </p:sp>
      <p:sp>
        <p:nvSpPr>
          <p:cNvPr id="11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1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1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1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IS OUR OVERALL POSITION?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Financial Performance Overview</a:t>
            </a:r>
          </a:p>
        </p:txBody>
      </p:sp>
      <p:sp>
        <p:nvSpPr>
          <p:cNvPr id="122" name="kpi-strip"/>
          <p:cNvSpPr/>
          <p:nvPr/>
        </p:nvSpPr>
        <p:spPr>
          <a:xfrm>
            <a:off x="411480" y="1005840"/>
            <a:ext cx="420624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23" name="kpi-card"/>
          <p:cNvSpPr/>
          <p:nvPr/>
        </p:nvSpPr>
        <p:spPr>
          <a:xfrm>
            <a:off x="411480" y="1005840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24" name="kpi-txt"/>
          <p:cNvSpPr/>
          <p:nvPr/>
        </p:nvSpPr>
        <p:spPr>
          <a:xfrm>
            <a:off x="457200" y="1097280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Invoiced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£39,049.20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net £32,541.00 + VAT £6,508.20</a:t>
            </a:r>
          </a:p>
        </p:txBody>
      </p:sp>
      <p:sp>
        <p:nvSpPr>
          <p:cNvPr id="126" name="kpi-strip"/>
          <p:cNvSpPr/>
          <p:nvPr/>
        </p:nvSpPr>
        <p:spPr>
          <a:xfrm>
            <a:off x="411480" y="2039112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27" name="kpi-card"/>
          <p:cNvSpPr/>
          <p:nvPr/>
        </p:nvSpPr>
        <p:spPr>
          <a:xfrm>
            <a:off x="411480" y="2039112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28" name="kpi-txt"/>
          <p:cNvSpPr/>
          <p:nvPr/>
        </p:nvSpPr>
        <p:spPr>
          <a:xfrm>
            <a:off x="457200" y="2130552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Collected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£32,834.40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104 paid invoices</a:t>
            </a:r>
          </a:p>
        </p:txBody>
      </p:sp>
      <p:sp>
        <p:nvSpPr>
          <p:cNvPr id="130" name="kpi-strip"/>
          <p:cNvSpPr/>
          <p:nvPr/>
        </p:nvSpPr>
        <p:spPr>
          <a:xfrm>
            <a:off x="411480" y="3072384"/>
            <a:ext cx="4206240" cy="64008"/>
          </a:xfrm>
          <a:prstGeom prst="rect">
            <a:avLst/>
          </a:prstGeom>
          <a:solidFill>
            <a:srgbClr val="B91C1C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31" name="kpi-card"/>
          <p:cNvSpPr/>
          <p:nvPr/>
        </p:nvSpPr>
        <p:spPr>
          <a:xfrm>
            <a:off x="411480" y="3072384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32" name="kpi-txt"/>
          <p:cNvSpPr/>
          <p:nvPr/>
        </p:nvSpPr>
        <p:spPr>
          <a:xfrm>
            <a:off x="457200" y="3163824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Outstanding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91C1C"/>
                </a:solidFill>
                <a:latin typeface="Segoe UI"/>
              </a:rPr>
              <a:t>£6,214.80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21 unpaid invoices</a:t>
            </a:r>
          </a:p>
        </p:txBody>
      </p:sp>
      <p:sp>
        <p:nvSpPr>
          <p:cNvPr id="134" name="kpi-strip"/>
          <p:cNvSpPr/>
          <p:nvPr/>
        </p:nvSpPr>
        <p:spPr>
          <a:xfrm>
            <a:off x="411480" y="4105656"/>
            <a:ext cx="4206240" cy="64008"/>
          </a:xfrm>
          <a:prstGeom prst="rect">
            <a:avLst/>
          </a:prstGeom>
          <a:solidFill>
            <a:srgbClr val="15803D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35" name="kpi-card"/>
          <p:cNvSpPr/>
          <p:nvPr/>
        </p:nvSpPr>
        <p:spPr>
          <a:xfrm>
            <a:off x="411480" y="4105656"/>
            <a:ext cx="420624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36" name="kpi-txt"/>
          <p:cNvSpPr/>
          <p:nvPr/>
        </p:nvSpPr>
        <p:spPr>
          <a:xfrm>
            <a:off x="457200" y="4197096"/>
            <a:ext cx="4114800" cy="78638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Collection Rate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5803D"/>
                </a:solidFill>
                <a:latin typeface="Segoe UI"/>
              </a:rPr>
              <a:t>84.1%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avg 53.9 days to payment</a:t>
            </a:r>
          </a:p>
        </p:txBody>
      </p:sp>
      <p:graphicFrame>
        <p:nvGraphicFramePr>
          <p:cNvPr id="138" name="Chart 138"/>
          <p:cNvGraphicFramePr>
            <a:graphicFrameLocks noGrp="1"/>
          </p:cNvGraphicFramePr>
          <p:nvPr/>
        </p:nvGraphicFramePr>
        <p:xfrm>
          <a:off x="4937760" y="1005840"/>
          <a:ext cx="68580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142" name="callout"/>
          <p:cNvSpPr/>
          <p:nvPr/>
        </p:nvSpPr>
        <p:spPr>
          <a:xfrm>
            <a:off x="4937760" y="5212080"/>
            <a:ext cx="6858000" cy="100584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E40AF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43" name="callout-txt"/>
          <p:cNvSpPr/>
          <p:nvPr/>
        </p:nvSpPr>
        <p:spPr>
          <a:xfrm>
            <a:off x="5047488" y="5285232"/>
            <a:ext cx="6638544" cy="8595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£32,834.40 of £39,049.20 invoiced value has been collected (84.1%). £6,214.80 (15.9%) remains outstanding — all of it in the 2026 invoice cohort.</a:t>
            </a:r>
          </a:p>
        </p:txBody>
      </p:sp>
      <p:sp>
        <p:nvSpPr>
          <p:cNvPr id="1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BUSINESS HAVE WE GENERATED?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Year-wise Financial Performance</a:t>
            </a:r>
          </a:p>
        </p:txBody>
      </p:sp>
      <p:graphicFrame>
        <p:nvGraphicFramePr>
          <p:cNvPr id="154" name="Chart 154"/>
          <p:cNvGraphicFramePr>
            <a:graphicFrameLocks noGrp="1"/>
          </p:cNvGraphicFramePr>
          <p:nvPr/>
        </p:nvGraphicFramePr>
        <p:xfrm>
          <a:off x="411480" y="100584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158" name="sh"/>
          <p:cNvSpPr/>
          <p:nvPr/>
        </p:nvSpPr>
        <p:spPr>
          <a:xfrm>
            <a:off x="8001000" y="1005840"/>
            <a:ext cx="374904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Key Observations</a:t>
            </a:r>
          </a:p>
        </p:txBody>
      </p:sp>
      <p:sp>
        <p:nvSpPr>
          <p:cNvPr id="162" name="obs"/>
          <p:cNvSpPr/>
          <p:nvPr/>
        </p:nvSpPr>
        <p:spPr>
          <a:xfrm>
            <a:off x="8001000" y="1371600"/>
            <a:ext cx="3794760" cy="40233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2025 was the highest-revenue year: £14,566.80 across 49 invoices.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2023—2025 cohorts are 100% collected; 2026 collection stands at 50.9%.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Invoiced value grew strongly 2023 to 2025, then moderated in 2026 (£12,669.60).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All outstanding (£6,214.80) was generated by 2026 invoices — driven by the monthly retainer run.</a:t>
            </a:r>
          </a:p>
        </p:txBody>
      </p:sp>
      <p:sp>
        <p:nvSpPr>
          <p:cNvPr id="1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1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BUSINESS ACQUISITION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 &amp; Client Growth</a:t>
            </a:r>
          </a:p>
        </p:txBody>
      </p:sp>
      <p:graphicFrame>
        <p:nvGraphicFramePr>
          <p:cNvPr id="174" name="Chart 174"/>
          <p:cNvGraphicFramePr>
            <a:graphicFrameLocks noGrp="1"/>
          </p:cNvGraphicFramePr>
          <p:nvPr/>
        </p:nvGraphicFramePr>
        <p:xfrm>
          <a:off x="411480" y="1005840"/>
          <a:ext cx="667512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178" name="kpi-strip"/>
          <p:cNvSpPr/>
          <p:nvPr/>
        </p:nvSpPr>
        <p:spPr>
          <a:xfrm>
            <a:off x="7452360" y="1005840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79" name="kpi-card"/>
          <p:cNvSpPr/>
          <p:nvPr/>
        </p:nvSpPr>
        <p:spPr>
          <a:xfrm>
            <a:off x="7452360" y="1005840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80" name="kpi-txt"/>
          <p:cNvSpPr/>
          <p:nvPr/>
        </p:nvSpPr>
        <p:spPr>
          <a:xfrm>
            <a:off x="7498080" y="1097280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Projects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9</a:t>
            </a:r>
          </a:p>
        </p:txBody>
      </p:sp>
      <p:sp>
        <p:nvSpPr>
          <p:cNvPr id="182" name="kpi-strip"/>
          <p:cNvSpPr/>
          <p:nvPr/>
        </p:nvSpPr>
        <p:spPr>
          <a:xfrm>
            <a:off x="7452360" y="2084832"/>
            <a:ext cx="4343400" cy="64008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83" name="kpi-card"/>
          <p:cNvSpPr/>
          <p:nvPr/>
        </p:nvSpPr>
        <p:spPr>
          <a:xfrm>
            <a:off x="7452360" y="2084832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84" name="kpi-txt"/>
          <p:cNvSpPr/>
          <p:nvPr/>
        </p:nvSpPr>
        <p:spPr>
          <a:xfrm>
            <a:off x="7498080" y="2176272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1E40AF"/>
                </a:solidFill>
                <a:latin typeface="Segoe UI"/>
              </a:rPr>
              <a:t>4</a:t>
            </a:r>
          </a:p>
        </p:txBody>
      </p:sp>
      <p:sp>
        <p:nvSpPr>
          <p:cNvPr id="186" name="kpi-strip"/>
          <p:cNvSpPr/>
          <p:nvPr/>
        </p:nvSpPr>
        <p:spPr>
          <a:xfrm>
            <a:off x="7452360" y="3163824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87" name="kpi-card"/>
          <p:cNvSpPr/>
          <p:nvPr/>
        </p:nvSpPr>
        <p:spPr>
          <a:xfrm>
            <a:off x="7452360" y="3163824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88" name="kpi-txt"/>
          <p:cNvSpPr/>
          <p:nvPr/>
        </p:nvSpPr>
        <p:spPr>
          <a:xfrm>
            <a:off x="7498080" y="3255264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Repeat Clients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4 of 4</a:t>
            </a:r>
          </a:p>
        </p:txBody>
      </p:sp>
      <p:sp>
        <p:nvSpPr>
          <p:cNvPr id="190" name="kpi-strip"/>
          <p:cNvSpPr/>
          <p:nvPr/>
        </p:nvSpPr>
        <p:spPr>
          <a:xfrm>
            <a:off x="7452360" y="4242816"/>
            <a:ext cx="4343400" cy="64008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91" name="kpi-card"/>
          <p:cNvSpPr/>
          <p:nvPr/>
        </p:nvSpPr>
        <p:spPr>
          <a:xfrm>
            <a:off x="7452360" y="4242816"/>
            <a:ext cx="434340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92" name="kpi-txt"/>
          <p:cNvSpPr/>
          <p:nvPr/>
        </p:nvSpPr>
        <p:spPr>
          <a:xfrm>
            <a:off x="7498080" y="4334256"/>
            <a:ext cx="4251960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Avg Projects / Client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0D9488"/>
                </a:solidFill>
                <a:latin typeface="Segoe UI"/>
              </a:rPr>
              <a:t>2.25</a:t>
            </a:r>
          </a:p>
        </p:txBody>
      </p:sp>
      <p:sp>
        <p:nvSpPr>
          <p:cNvPr id="194" name="callout"/>
          <p:cNvSpPr/>
          <p:nvPr/>
        </p:nvSpPr>
        <p:spPr>
          <a:xfrm>
            <a:off x="411480" y="5349240"/>
            <a:ext cx="11384280" cy="868680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195" name="callout-txt"/>
          <p:cNvSpPr/>
          <p:nvPr/>
        </p:nvSpPr>
        <p:spPr>
          <a:xfrm>
            <a:off x="521208" y="5422392"/>
            <a:ext cx="11164824" cy="7223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All 4 clients appear across multiple years and receive recurring monthly retainer invoices — the business is entirely repeat/retainer-driven, with acquisition concentrated in 2024 (3 new clients, 6 new projects).</a:t>
            </a:r>
          </a:p>
        </p:txBody>
      </p:sp>
      <p:sp>
        <p:nvSpPr>
          <p:cNvPr id="19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19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0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0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IS THE REVENUE COMING FROM?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SEO vs Development Performance</a:t>
            </a:r>
          </a:p>
        </p:txBody>
      </p:sp>
      <p:graphicFrame>
        <p:nvGraphicFramePr>
          <p:cNvPr id="206" name="Table 206"/>
          <p:cNvGraphicFramePr>
            <a:graphicFrameLocks noGrp="1"/>
          </p:cNvGraphicFramePr>
          <p:nvPr/>
        </p:nvGraphicFramePr>
        <p:xfrm>
          <a:off x="411480" y="1005840"/>
          <a:ext cx="7223760" cy="2798064"/>
        </p:xfrm>
        <a:graphic>
          <a:graphicData uri="http://schemas.openxmlformats.org/drawingml/2006/table">
            <a:tbl>
              <a:tblPr firstRow="1" bandRow="1"/>
              <a:tblGrid>
                <a:gridCol w="2194560"/>
                <a:gridCol w="2377440"/>
                <a:gridCol w="2651760"/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Metric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SEO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Development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Projects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 (invoice layer)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 PM / 4 invoice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Invoiced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£33,678.00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£5,371.20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Paid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£28,182.00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£4,652.40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Outstanding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£5,496.00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£718.80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Collection 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83.7%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86.6%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Actual Hours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no PM data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Effort Value (@ £10/hr)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approx 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50">
                          <a:solidFill>
                            <a:srgbClr val="0F172A"/>
                          </a:solidFill>
                          <a:latin typeface="Segoe UI"/>
                        </a:rPr>
                        <a:t>£5,368.50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0" name="Chart 210"/>
          <p:cNvGraphicFramePr>
            <a:graphicFrameLocks noGrp="1"/>
          </p:cNvGraphicFramePr>
          <p:nvPr/>
        </p:nvGraphicFramePr>
        <p:xfrm>
          <a:off x="7635240" y="1005840"/>
          <a:ext cx="416052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214" name="callout"/>
          <p:cNvSpPr/>
          <p:nvPr/>
        </p:nvSpPr>
        <p:spPr>
          <a:xfrm>
            <a:off x="411480" y="5029200"/>
            <a:ext cx="11384280" cy="1188720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15" name="callout-txt"/>
          <p:cNvSpPr/>
          <p:nvPr/>
        </p:nvSpPr>
        <p:spPr>
          <a:xfrm>
            <a:off x="521208" y="5102352"/>
            <a:ext cx="11164824" cy="104241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50">
                <a:solidFill>
                  <a:srgbClr val="1E3A8A"/>
                </a:solidFill>
                <a:latin typeface="Segoe UI"/>
              </a:rPr>
              <a:t>SEO generates 86% of invoiced revenue (£33,678.00) on monthly retainers, with solid collection (83.7%). Development is smaller in revenue (£5,371.20, 86.6% collection) but consumes 536h 51m of delivery effort — approx £5,368.50 at £10/hr — and only £1,917.60 of development-linked invoicing has been identified as paid.</a:t>
            </a:r>
          </a:p>
        </p:txBody>
      </p:sp>
      <p:sp>
        <p:nvSpPr>
          <p:cNvPr id="218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19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20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23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WORK HAVE WE ACTUALLY DELIVERED?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Development Effort Delivered</a:t>
            </a:r>
          </a:p>
        </p:txBody>
      </p:sp>
      <p:sp>
        <p:nvSpPr>
          <p:cNvPr id="226" name="kpi-strip"/>
          <p:cNvSpPr/>
          <p:nvPr/>
        </p:nvSpPr>
        <p:spPr>
          <a:xfrm>
            <a:off x="411480" y="1005840"/>
            <a:ext cx="2706624" cy="6400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27" name="kpi-card"/>
          <p:cNvSpPr/>
          <p:nvPr/>
        </p:nvSpPr>
        <p:spPr>
          <a:xfrm>
            <a:off x="411480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28" name="kpi-txt"/>
          <p:cNvSpPr/>
          <p:nvPr/>
        </p:nvSpPr>
        <p:spPr>
          <a:xfrm>
            <a:off x="457200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Estimated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64748B"/>
                </a:solidFill>
                <a:latin typeface="Segoe UI"/>
              </a:rPr>
              <a:t>367h 50m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8 projects</a:t>
            </a:r>
          </a:p>
        </p:txBody>
      </p:sp>
      <p:sp>
        <p:nvSpPr>
          <p:cNvPr id="230" name="kpi-strip"/>
          <p:cNvSpPr/>
          <p:nvPr/>
        </p:nvSpPr>
        <p:spPr>
          <a:xfrm>
            <a:off x="3300984" y="1005840"/>
            <a:ext cx="2706624" cy="64008"/>
          </a:xfrm>
          <a:prstGeom prst="rect">
            <a:avLst/>
          </a:prstGeom>
          <a:solidFill>
            <a:srgbClr val="B45309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31" name="kpi-card"/>
          <p:cNvSpPr/>
          <p:nvPr/>
        </p:nvSpPr>
        <p:spPr>
          <a:xfrm>
            <a:off x="3300984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32" name="kpi-txt"/>
          <p:cNvSpPr/>
          <p:nvPr/>
        </p:nvSpPr>
        <p:spPr>
          <a:xfrm>
            <a:off x="3346704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Total Workload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B45309"/>
                </a:solidFill>
                <a:latin typeface="Segoe UI"/>
              </a:rPr>
              <a:t>402h 37m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team of 5</a:t>
            </a:r>
          </a:p>
        </p:txBody>
      </p:sp>
      <p:sp>
        <p:nvSpPr>
          <p:cNvPr id="234" name="kpi-strip"/>
          <p:cNvSpPr/>
          <p:nvPr/>
        </p:nvSpPr>
        <p:spPr>
          <a:xfrm>
            <a:off x="6190488" y="1005840"/>
            <a:ext cx="2706624" cy="6400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35" name="kpi-card"/>
          <p:cNvSpPr/>
          <p:nvPr/>
        </p:nvSpPr>
        <p:spPr>
          <a:xfrm>
            <a:off x="6190488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36" name="kpi-txt"/>
          <p:cNvSpPr/>
          <p:nvPr/>
        </p:nvSpPr>
        <p:spPr>
          <a:xfrm>
            <a:off x="6236208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Actual Logged Hours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reported total 536h 53m</a:t>
            </a:r>
          </a:p>
        </p:txBody>
      </p:sp>
      <p:sp>
        <p:nvSpPr>
          <p:cNvPr id="238" name="kpi-strip"/>
          <p:cNvSpPr/>
          <p:nvPr/>
        </p:nvSpPr>
        <p:spPr>
          <a:xfrm>
            <a:off x="9079992" y="1005840"/>
            <a:ext cx="2706624" cy="64008"/>
          </a:xfrm>
          <a:prstGeom prst="rect">
            <a:avLst/>
          </a:prstGeom>
          <a:solidFill>
            <a:srgbClr val="+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39" name="kpi-card"/>
          <p:cNvSpPr/>
          <p:nvPr/>
        </p:nvSpPr>
        <p:spPr>
          <a:xfrm>
            <a:off x="9079992" y="1005840"/>
            <a:ext cx="2706624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40" name="kpi-txt"/>
          <p:cNvSpPr/>
          <p:nvPr/>
        </p:nvSpPr>
        <p:spPr>
          <a:xfrm>
            <a:off x="9125712" y="1097280"/>
            <a:ext cx="2615184" cy="832104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50" b="1">
                <a:solidFill>
                  <a:srgbClr val="64748B"/>
                </a:solidFill>
                <a:latin typeface="Segoe UI"/>
              </a:rPr>
              <a:t>Effort Overrun</a:t>
            </a:r>
          </a:p>
          <a:p>
            <a:pPr algn="l">
              <a:spcAft>
                <a:spcPts val="100"/>
              </a:spcAft>
            </a:pPr>
            <a:r>
              <a:rPr lang="en-GB" sz="2000" b="1">
                <a:solidFill>
                  <a:srgbClr val="+"/>
                </a:solidFill>
                <a:latin typeface="Segoe UI"/>
              </a:rPr>
              <a:t>+</a:t>
            </a:r>
          </a:p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169h 01m</a:t>
            </a:r>
          </a:p>
        </p:txBody>
      </p:sp>
      <p:graphicFrame>
        <p:nvGraphicFramePr>
          <p:cNvPr id="242" name="Chart 242"/>
          <p:cNvGraphicFramePr>
            <a:graphicFrameLocks noGrp="1"/>
          </p:cNvGraphicFramePr>
          <p:nvPr/>
        </p:nvGraphicFramePr>
        <p:xfrm>
          <a:off x="411480" y="2286000"/>
          <a:ext cx="69494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246" name="sh"/>
          <p:cNvSpPr/>
          <p:nvPr/>
        </p:nvSpPr>
        <p:spPr>
          <a:xfrm>
            <a:off x="7635240" y="2286000"/>
            <a:ext cx="41148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Interpretation</a:t>
            </a:r>
          </a:p>
        </p:txBody>
      </p:sp>
      <p:sp>
        <p:nvSpPr>
          <p:cNvPr id="250" name="obs2"/>
          <p:cNvSpPr/>
          <p:nvPr/>
        </p:nvSpPr>
        <p:spPr>
          <a:xfrm>
            <a:off x="7635240" y="2651760"/>
            <a:ext cx="4114800" cy="27432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Actual logged effort is significantly above estimate: 536h 51m delivered vs 367h 50m estimated (+45.9%).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Logged time also exceeds planned workload by 134h 16m (133.3% utilisation).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 of 8 projects are over estimate — up to +275% (see Effort Variance slide).</a:t>
            </a:r>
          </a:p>
        </p:txBody>
      </p:sp>
      <p:sp>
        <p:nvSpPr>
          <p:cNvPr id="25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5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25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5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MUCH OF THAT WORK HAS BEEN FINANCIALLY RECOVERED?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Revenue vs Delivered Development Effort</a:t>
            </a:r>
          </a:p>
        </p:txBody>
      </p:sp>
      <p:sp>
        <p:nvSpPr>
          <p:cNvPr id="262" name="fl0"/>
          <p:cNvSpPr/>
          <p:nvPr/>
        </p:nvSpPr>
        <p:spPr>
          <a:xfrm>
            <a:off x="41148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66" name="flt0"/>
          <p:cNvSpPr/>
          <p:nvPr/>
        </p:nvSpPr>
        <p:spPr>
          <a:xfrm>
            <a:off x="54864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WORK DELIVERED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4F46E5"/>
                </a:solidFill>
                <a:latin typeface="Segoe UI"/>
              </a:rPr>
              <a:t>536h 51m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approx £5,368.50 @ £10/hr</a:t>
            </a:r>
          </a:p>
        </p:txBody>
      </p:sp>
      <p:sp>
        <p:nvSpPr>
          <p:cNvPr id="270" name="arr0"/>
          <p:cNvSpPr/>
          <p:nvPr/>
        </p:nvSpPr>
        <p:spPr>
          <a:xfrm>
            <a:off x="377647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74" name="fl1"/>
          <p:cNvSpPr/>
          <p:nvPr/>
        </p:nvSpPr>
        <p:spPr>
          <a:xfrm>
            <a:off x="448056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78" name="flt1"/>
          <p:cNvSpPr/>
          <p:nvPr/>
        </p:nvSpPr>
        <p:spPr>
          <a:xfrm>
            <a:off x="461772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BILLED (invoice identified)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B45309"/>
                </a:solidFill>
                <a:latin typeface="Segoe UI"/>
              </a:rPr>
              <a:t>177h 54m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£2,637.60 invoiced</a:t>
            </a:r>
          </a:p>
        </p:txBody>
      </p:sp>
      <p:sp>
        <p:nvSpPr>
          <p:cNvPr id="282" name="arr1"/>
          <p:cNvSpPr/>
          <p:nvPr/>
        </p:nvSpPr>
        <p:spPr>
          <a:xfrm>
            <a:off x="7845552" y="1600200"/>
            <a:ext cx="502920" cy="274320"/>
          </a:xfrm>
          <a:prstGeom prst="rightArrow">
            <a:avLst/>
          </a:prstGeom>
          <a:solidFill>
            <a:srgbClr val="64748B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286" name="fl2"/>
          <p:cNvSpPr/>
          <p:nvPr/>
        </p:nvSpPr>
        <p:spPr>
          <a:xfrm>
            <a:off x="8549640" y="1051560"/>
            <a:ext cx="324612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5803D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290" name="flt2"/>
          <p:cNvSpPr/>
          <p:nvPr/>
        </p:nvSpPr>
        <p:spPr>
          <a:xfrm>
            <a:off x="8686800" y="1188720"/>
            <a:ext cx="2971800" cy="1143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1000" b="1">
                <a:solidFill>
                  <a:srgbClr val="64748B"/>
                </a:solidFill>
                <a:latin typeface="Segoe UI"/>
              </a:rPr>
              <a:t>PAID</a:t>
            </a:r>
          </a:p>
          <a:p>
            <a:pPr algn="l">
              <a:spcAft>
                <a:spcPts val="200"/>
              </a:spcAft>
            </a:pPr>
            <a:r>
              <a:rPr lang="en-GB" sz="2100" b="1">
                <a:solidFill>
                  <a:srgbClr val="15803D"/>
                </a:solidFill>
                <a:latin typeface="Segoe UI"/>
              </a:rPr>
              <a:t>122h 07m</a:t>
            </a:r>
          </a:p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£1,917.60 received</a:t>
            </a:r>
          </a:p>
        </p:txBody>
      </p:sp>
      <p:graphicFrame>
        <p:nvGraphicFramePr>
          <p:cNvPr id="294" name="Chart 294"/>
          <p:cNvGraphicFramePr>
            <a:graphicFrameLocks noGrp="1"/>
          </p:cNvGraphicFramePr>
          <p:nvPr/>
        </p:nvGraphicFramePr>
        <p:xfrm>
          <a:off x="411480" y="2743200"/>
          <a:ext cx="6766560" cy="3017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298" name="sh"/>
          <p:cNvSpPr/>
          <p:nvPr/>
        </p:nvSpPr>
        <p:spPr>
          <a:xfrm>
            <a:off x="7452360" y="2743200"/>
            <a:ext cx="42976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The Recovery Gap</a:t>
            </a:r>
          </a:p>
        </p:txBody>
      </p:sp>
      <p:sp>
        <p:nvSpPr>
          <p:cNvPr id="302" name="gap"/>
          <p:cNvSpPr/>
          <p:nvPr/>
        </p:nvSpPr>
        <p:spPr>
          <a:xfrm>
            <a:off x="7452360" y="3108960"/>
            <a:ext cx="4343400" cy="26517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91C1C"/>
                </a:solidFill>
                <a:latin typeface="Segoe UI"/>
              </a:rPr>
              <a:t>DELIVERED BUT UNBILLED: 328h 55m (approx £3,289.17) — no invoice identified.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 b="1">
                <a:solidFill>
                  <a:srgbClr val="B45309"/>
                </a:solidFill>
                <a:latin typeface="Segoe UI"/>
              </a:rPr>
              <a:t>INVOICED BUT UNPAID: 55h 47m (approx £557.83) — invoice raised, payment pending.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Awaiting verification: 30h 02m (Nomads Clothing) — excluded from unbilled until confirmed.</a:t>
            </a:r>
          </a:p>
        </p:txBody>
      </p:sp>
      <p:sp>
        <p:nvSpPr>
          <p:cNvPr id="30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0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0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1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FINANCIAL EXPOSURE OF DELIVERED WORK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Unrecovered Development Effort</a:t>
            </a:r>
          </a:p>
        </p:txBody>
      </p:sp>
      <p:sp>
        <p:nvSpPr>
          <p:cNvPr id="314" name="u0"/>
          <p:cNvSpPr/>
          <p:nvPr/>
        </p:nvSpPr>
        <p:spPr>
          <a:xfrm>
            <a:off x="4114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18" name="ut0"/>
          <p:cNvSpPr/>
          <p:nvPr/>
        </p:nvSpPr>
        <p:spPr>
          <a:xfrm>
            <a:off x="5943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45309"/>
                </a:solidFill>
                <a:latin typeface="Segoe UI"/>
              </a:rPr>
              <a:t>UNBILLED DEVELOPMENT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45309"/>
                </a:solidFill>
                <a:latin typeface="Segoe UI"/>
              </a:rPr>
              <a:t>328h 55m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£3,289.17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Delivered, no invoice identified</a:t>
            </a:r>
          </a:p>
        </p:txBody>
      </p:sp>
      <p:sp>
        <p:nvSpPr>
          <p:cNvPr id="322" name="u1"/>
          <p:cNvSpPr/>
          <p:nvPr/>
        </p:nvSpPr>
        <p:spPr>
          <a:xfrm>
            <a:off x="42976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26" name="ut1"/>
          <p:cNvSpPr/>
          <p:nvPr/>
        </p:nvSpPr>
        <p:spPr>
          <a:xfrm>
            <a:off x="44805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B91C1C"/>
                </a:solidFill>
                <a:latin typeface="Segoe UI"/>
              </a:rPr>
              <a:t>INVOICED BUT UNPAID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B91C1C"/>
                </a:solidFill>
                <a:latin typeface="Segoe UI"/>
              </a:rPr>
              <a:t>55h 47m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£557.83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Invoice raised, payment not received</a:t>
            </a:r>
          </a:p>
        </p:txBody>
      </p:sp>
      <p:sp>
        <p:nvSpPr>
          <p:cNvPr id="330" name="u2"/>
          <p:cNvSpPr/>
          <p:nvPr/>
        </p:nvSpPr>
        <p:spPr>
          <a:xfrm>
            <a:off x="8183880" y="1097280"/>
            <a:ext cx="36118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F172A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34" name="ut2"/>
          <p:cNvSpPr/>
          <p:nvPr/>
        </p:nvSpPr>
        <p:spPr>
          <a:xfrm>
            <a:off x="8366760" y="1280160"/>
            <a:ext cx="3246120" cy="1645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050" b="1">
                <a:solidFill>
                  <a:srgbClr val="0F172A"/>
                </a:solidFill>
                <a:latin typeface="Segoe UI"/>
              </a:rPr>
              <a:t>TOTAL UNRECOVERED EFFORT</a:t>
            </a:r>
          </a:p>
          <a:p>
            <a:pPr algn="l">
              <a:spcAft>
                <a:spcPts val="300"/>
              </a:spcAft>
            </a:pPr>
            <a:r>
              <a:rPr lang="en-GB" sz="3000" b="1">
                <a:solidFill>
                  <a:srgbClr val="0F172A"/>
                </a:solidFill>
                <a:latin typeface="Segoe UI"/>
              </a:rPr>
              <a:t>384h 42m</a:t>
            </a:r>
          </a:p>
          <a:p>
            <a:pPr algn="l">
              <a:spcAft>
                <a:spcPts val="300"/>
              </a:spcAft>
            </a:pPr>
            <a:r>
              <a:rPr lang="en-GB" sz="1500" b="1">
                <a:solidFill>
                  <a:srgbClr val="475569"/>
                </a:solidFill>
                <a:latin typeface="Segoe UI"/>
              </a:rPr>
              <a:t>approx £3,847.00</a:t>
            </a:r>
          </a:p>
          <a:p>
            <a:pPr algn="l"/>
            <a:r>
              <a:rPr lang="en-GB" sz="1000">
                <a:solidFill>
                  <a:srgbClr val="64748B"/>
                </a:solidFill>
                <a:latin typeface="Segoe UI"/>
              </a:rPr>
              <a:t>at £10/hr configurable rate</a:t>
            </a:r>
          </a:p>
        </p:txBody>
      </p:sp>
      <p:sp>
        <p:nvSpPr>
          <p:cNvPr id="338" name="callout"/>
          <p:cNvSpPr/>
          <p:nvPr/>
        </p:nvSpPr>
        <p:spPr>
          <a:xfrm>
            <a:off x="411480" y="3383280"/>
            <a:ext cx="11384280" cy="12344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39" name="callout-txt"/>
          <p:cNvSpPr/>
          <p:nvPr/>
        </p:nvSpPr>
        <p:spPr>
          <a:xfrm>
            <a:off x="521208" y="3456432"/>
            <a:ext cx="11164824" cy="10881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Development effort worth approx £3,847.00 (384h 42m) has been delivered without financial recovery. The largest component is unbilled work: NWT (144h 17m), Silver Street London (80h 55m) and Nomads Saige (67h 03m) have logged hours with no corresponding invoice. Unbilled effort is NOT an outstanding invoice — it becomes recoverable only once billed.</a:t>
            </a:r>
          </a:p>
        </p:txBody>
      </p:sp>
      <p:sp>
        <p:nvSpPr>
          <p:cNvPr id="342" name="brk"/>
          <p:cNvSpPr/>
          <p:nvPr/>
        </p:nvSpPr>
        <p:spPr>
          <a:xfrm>
            <a:off x="411480" y="4846320"/>
            <a:ext cx="11384280" cy="14630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Invoiced but unpaid sits with CATESBY ENGLAND (£720.00 outstanding of £1,200.00 invoiced, 92h 58m delivered).</a:t>
            </a:r>
          </a:p>
          <a:p>
            <a:pPr algn="l" marL="228600" indent="-228600">
              <a:spcAft>
                <a:spcPts val="600"/>
              </a:spcAft>
              <a:buFont typeface="Arial"/>
              <a:buChar char="•"/>
            </a:pPr>
            <a:r>
              <a:rPr lang="en-GB" sz="1100">
                <a:solidFill>
                  <a:srgbClr val="1E293B"/>
                </a:solidFill>
                <a:latin typeface="Segoe UI"/>
              </a:rPr>
              <a:t>Paid development work: Nomads Trade Website (84h 56m, £1,437.60 received in full).</a:t>
            </a:r>
          </a:p>
          <a:p>
            <a:pPr algn="l" marL="228600" indent="-228600">
              <a:buFont typeface="Arial"/>
              <a:buChar char="•"/>
            </a:pPr>
            <a:r>
              <a:rPr lang="en-GB" sz="1100">
                <a:solidFill>
                  <a:srgbClr val="475569"/>
                </a:solidFill>
                <a:latin typeface="Segoe UI"/>
              </a:rPr>
              <a:t>Hourly valuation is a management indicator (configurable rate), not an accounting figure.</a:t>
            </a:r>
          </a:p>
        </p:txBody>
      </p:sp>
      <p:sp>
        <p:nvSpPr>
          <p:cNvPr id="34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4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4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5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WHICH CLIENTS OWE THE MOST?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Client Financial Exposure</a:t>
            </a:r>
          </a:p>
        </p:txBody>
      </p:sp>
      <p:graphicFrame>
        <p:nvGraphicFramePr>
          <p:cNvPr id="354" name="Chart 354"/>
          <p:cNvGraphicFramePr>
            <a:graphicFrameLocks noGrp="1"/>
          </p:cNvGraphicFramePr>
          <p:nvPr/>
        </p:nvGraphicFramePr>
        <p:xfrm>
          <a:off x="411480" y="1005840"/>
          <a:ext cx="60350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graphicFrame>
        <p:nvGraphicFramePr>
          <p:cNvPr id="358" name="Table 358"/>
          <p:cNvGraphicFramePr>
            <a:graphicFrameLocks noGrp="1"/>
          </p:cNvGraphicFramePr>
          <p:nvPr/>
        </p:nvGraphicFramePr>
        <p:xfrm>
          <a:off x="6720840" y="1005840"/>
          <a:ext cx="6080760" cy="2962656"/>
        </p:xfrm>
        <a:graphic>
          <a:graphicData uri="http://schemas.openxmlformats.org/drawingml/2006/table">
            <a:tbl>
              <a:tblPr firstRow="1" bandRow="1"/>
              <a:tblGrid>
                <a:gridCol w="2011680"/>
                <a:gridCol w="1051560"/>
                <a:gridCol w="1051560"/>
                <a:gridCol w="1188720"/>
                <a:gridCol w="77724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£17,312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£15,160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£2,152.80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87.6%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£8,721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£7,527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£1,194.00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86.3%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BRIGGS INDUSTRIAL FOOTWEAR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£7,169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£5,972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£1,196.40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83.3%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 (UK)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£5,847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£4,175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£1,671.60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71.4%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62" name="callout"/>
          <p:cNvSpPr/>
          <p:nvPr/>
        </p:nvSpPr>
        <p:spPr>
          <a:xfrm>
            <a:off x="6720840" y="3977640"/>
            <a:ext cx="5074920" cy="123444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63" name="callout-txt"/>
          <p:cNvSpPr/>
          <p:nvPr/>
        </p:nvSpPr>
        <p:spPr>
          <a:xfrm>
            <a:off x="6830568" y="4050792"/>
            <a:ext cx="4855464" cy="10881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00">
                <a:solidFill>
                  <a:srgbClr val="1E3A8A"/>
                </a:solidFill>
                <a:latin typeface="Segoe UI"/>
              </a:rPr>
              <a:t>Patrick Shoes Limited requires management attention: £2,152.80 outstanding (12.4% of its invoiced value). NOMADS CLOTHING LIMITED follows at £1,671.60.</a:t>
            </a:r>
          </a:p>
        </p:txBody>
      </p:sp>
      <p:sp>
        <p:nvSpPr>
          <p:cNvPr id="36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6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6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7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IS THE COMBINED EXPOSURE?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Project-level Financial &amp; Effort Exposure</a:t>
            </a:r>
          </a:p>
        </p:txBody>
      </p:sp>
      <p:graphicFrame>
        <p:nvGraphicFramePr>
          <p:cNvPr id="374" name="Table 374"/>
          <p:cNvGraphicFramePr>
            <a:graphicFrameLocks noGrp="1"/>
          </p:cNvGraphicFramePr>
          <p:nvPr/>
        </p:nvGraphicFramePr>
        <p:xfrm>
          <a:off x="411480" y="1005840"/>
          <a:ext cx="10241280" cy="5074920"/>
        </p:xfrm>
        <a:graphic>
          <a:graphicData uri="http://schemas.openxmlformats.org/drawingml/2006/table">
            <a:tbl>
              <a:tblPr firstRow="1" bandRow="1"/>
              <a:tblGrid>
                <a:gridCol w="1965960"/>
                <a:gridCol w="1737360"/>
                <a:gridCol w="1051560"/>
                <a:gridCol w="1005840"/>
                <a:gridCol w="1005840"/>
                <a:gridCol w="1097280"/>
                <a:gridCol w="1325880"/>
                <a:gridCol w="1051560"/>
              </a:tblGrid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U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NWT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144h 17m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£1,442.83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£1,442.83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Silver Street London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£809.17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£809.17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CATESBY ENGLAND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92h 58m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£1,200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Saige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03m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£670.50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£670.50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AMEN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25h 09m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£251.50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£251.50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FOOTWEAR DEPOT - 1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11h 31m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45309"/>
                          </a:solidFill>
                          <a:latin typeface="Segoe UI"/>
                        </a:rPr>
                        <a:t>£115.17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£115.17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30h 02m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378" name="callout"/>
          <p:cNvSpPr/>
          <p:nvPr/>
        </p:nvSpPr>
        <p:spPr>
          <a:xfrm>
            <a:off x="411480" y="4206240"/>
            <a:ext cx="11384280" cy="109728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379" name="callout-txt"/>
          <p:cNvSpPr/>
          <p:nvPr/>
        </p:nvSpPr>
        <p:spPr>
          <a:xfrm>
            <a:off x="521208" y="4279392"/>
            <a:ext cx="11164824" cy="95097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Highest exposure: NWT (NOMADS) — 144h 17m delivered, approx £1,442.83 of unbilled effort, no invoice identified. CATESBY ENGLAND combines 92h 58m delivered with £720.00 unpaid invoiced value.</a:t>
            </a:r>
          </a:p>
        </p:txBody>
      </p:sp>
      <p:sp>
        <p:nvSpPr>
          <p:cNvPr id="382" name="note11"/>
          <p:cNvSpPr/>
          <p:nvPr/>
        </p:nvSpPr>
        <p:spPr>
          <a:xfrm>
            <a:off x="411480" y="5486400"/>
            <a:ext cx="11384280" cy="6400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Unbilled effort value = actual hours x £10/hr (management indicator). Exposure = outstanding invoices + unbilled effort value. Projects with ambiguous invoice linkage (Nomads Clothing, 30h 02m) are excluded from exposure pending verification.</a:t>
            </a:r>
          </a:p>
        </p:txBody>
      </p:sp>
      <p:sp>
        <p:nvSpPr>
          <p:cNvPr id="38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8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38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39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HOW OLD IS THE UNPAID MONEY?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Outstanding Payment &amp; Ageing Analysis</a:t>
            </a:r>
          </a:p>
        </p:txBody>
      </p:sp>
      <p:graphicFrame>
        <p:nvGraphicFramePr>
          <p:cNvPr id="394" name="Chart 394"/>
          <p:cNvGraphicFramePr>
            <a:graphicFrameLocks noGrp="1"/>
          </p:cNvGraphicFramePr>
          <p:nvPr/>
        </p:nvGraphicFramePr>
        <p:xfrm>
          <a:off x="411480" y="1005840"/>
          <a:ext cx="630936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398" name="sh"/>
          <p:cNvSpPr/>
          <p:nvPr/>
        </p:nvSpPr>
        <p:spPr>
          <a:xfrm>
            <a:off x="6995160" y="1005840"/>
            <a:ext cx="475488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5 Oldest Outstanding Invoices</a:t>
            </a:r>
          </a:p>
        </p:txBody>
      </p:sp>
      <p:graphicFrame>
        <p:nvGraphicFramePr>
          <p:cNvPr id="402" name="Table 402"/>
          <p:cNvGraphicFramePr>
            <a:graphicFrameLocks noGrp="1"/>
          </p:cNvGraphicFramePr>
          <p:nvPr/>
        </p:nvGraphicFramePr>
        <p:xfrm>
          <a:off x="6995160" y="1371600"/>
          <a:ext cx="4800600" cy="2962656"/>
        </p:xfrm>
        <a:graphic>
          <a:graphicData uri="http://schemas.openxmlformats.org/drawingml/2006/table">
            <a:tbl>
              <a:tblPr firstRow="1" bandRow="1"/>
              <a:tblGrid>
                <a:gridCol w="1691640"/>
                <a:gridCol w="1097280"/>
                <a:gridCol w="1143000"/>
                <a:gridCol w="8686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2026-02-01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2026-03-01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06" name="callout"/>
          <p:cNvSpPr/>
          <p:nvPr/>
        </p:nvSpPr>
        <p:spPr>
          <a:xfrm>
            <a:off x="6995160" y="3703320"/>
            <a:ext cx="4800600" cy="1463040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07" name="callout-txt"/>
          <p:cNvSpPr/>
          <p:nvPr/>
        </p:nvSpPr>
        <p:spPr>
          <a:xfrm>
            <a:off x="7104888" y="3776472"/>
            <a:ext cx="4581144" cy="131673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100">
                <a:solidFill>
                  <a:srgbClr val="1E3A8A"/>
                </a:solidFill>
                <a:latin typeface="Segoe UI"/>
              </a:rPr>
              <a:t>£6,214.80 outstanding across 21 invoices; 42.3% is 61+ days past due. Oldest: SUPERHOUSE (UK) invoice of £238.80, 194 days past due.</a:t>
            </a:r>
          </a:p>
        </p:txBody>
      </p:sp>
      <p:sp>
        <p:nvSpPr>
          <p:cNvPr id="41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1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1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1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WHERE DID EFFORT EXCEED THE ESTIMATE?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Development Effort Variance</a:t>
            </a:r>
          </a:p>
        </p:txBody>
      </p:sp>
      <p:graphicFrame>
        <p:nvGraphicFramePr>
          <p:cNvPr id="418" name="Chart 418"/>
          <p:cNvGraphicFramePr>
            <a:graphicFrameLocks noGrp="1"/>
          </p:cNvGraphicFramePr>
          <p:nvPr/>
        </p:nvGraphicFramePr>
        <p:xfrm>
          <a:off x="411480" y="1005840"/>
          <a:ext cx="71323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1"/>
          </a:graphicData>
        </a:graphic>
      </p:graphicFrame>
      <p:sp>
        <p:nvSpPr>
          <p:cNvPr id="422" name="sh"/>
          <p:cNvSpPr/>
          <p:nvPr/>
        </p:nvSpPr>
        <p:spPr>
          <a:xfrm>
            <a:off x="7818120" y="100584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Interpretation</a:t>
            </a:r>
          </a:p>
        </p:txBody>
      </p:sp>
      <p:sp>
        <p:nvSpPr>
          <p:cNvPr id="426" name="vi"/>
          <p:cNvSpPr/>
          <p:nvPr/>
        </p:nvSpPr>
        <p:spPr>
          <a:xfrm>
            <a:off x="7818120" y="1371600"/>
            <a:ext cx="3977640" cy="39319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 of 8 projects exceeded their estimates; total overrun +169h 01m (+45.9%).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Worst overruns: Nomads Clothing +275% (30h 02m vs 8h 00m), AMEN SHOES +151%, CATESBY ENGLAND +132%.</a:t>
            </a:r>
          </a:p>
          <a:p>
            <a:pPr algn="l" marL="228600" indent="-228600">
              <a:spcAft>
                <a:spcPts val="700"/>
              </a:spcAft>
              <a:buFont typeface="Arial"/>
              <a:buChar char="•"/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Only FOOTWEAR DEPOT - 1 (-71%) and Silver Street London (-10%) are under estimate.</a:t>
            </a:r>
          </a:p>
          <a:p>
            <a:pPr algn="l" marL="228600" indent="-228600">
              <a:buFont typeface="Arial"/>
              <a:buChar char="•"/>
            </a:pPr>
            <a:r>
              <a:rPr lang="en-GB" sz="1150" b="1">
                <a:solidFill>
                  <a:srgbClr val="B91C1C"/>
                </a:solidFill>
                <a:latin typeface="Segoe UI"/>
              </a:rPr>
              <a:t>Overruns amplify the unbilled-exposure issue: more hours delivered than scoped, without matching invoices.</a:t>
            </a:r>
          </a:p>
        </p:txBody>
      </p:sp>
      <p:sp>
        <p:nvSpPr>
          <p:cNvPr id="43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3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3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3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DERIVED FROM THE DATA, WITH FIGURES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Key Risks &amp; Management Attention</a:t>
            </a:r>
          </a:p>
        </p:txBody>
      </p:sp>
      <p:sp>
        <p:nvSpPr>
          <p:cNvPr id="438" name="r0"/>
          <p:cNvSpPr/>
          <p:nvPr/>
        </p:nvSpPr>
        <p:spPr>
          <a:xfrm>
            <a:off x="411480" y="1005840"/>
            <a:ext cx="5504688" cy="1261872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42" name="rt0"/>
          <p:cNvSpPr/>
          <p:nvPr/>
        </p:nvSpPr>
        <p:spPr>
          <a:xfrm>
            <a:off x="548640" y="1078992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91C1C"/>
                </a:solidFill>
                <a:latin typeface="Segoe UI"/>
              </a:rPr>
              <a:t>PAYMENT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BRIGGS INDUSTRIAL FOOTWEAR LIMITED holds the largest outstanding balance: Â£1,196.40.</a:t>
            </a:r>
          </a:p>
        </p:txBody>
      </p:sp>
      <p:sp>
        <p:nvSpPr>
          <p:cNvPr id="446" name="r1"/>
          <p:cNvSpPr/>
          <p:nvPr/>
        </p:nvSpPr>
        <p:spPr>
          <a:xfrm>
            <a:off x="6190488" y="1005840"/>
            <a:ext cx="5504688" cy="1261872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B91C1C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50" name="rt1"/>
          <p:cNvSpPr/>
          <p:nvPr/>
        </p:nvSpPr>
        <p:spPr>
          <a:xfrm>
            <a:off x="6327648" y="1078992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91C1C"/>
                </a:solidFill>
                <a:latin typeface="Segoe UI"/>
              </a:rPr>
              <a:t>PAYMENT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20 invoices worth Â£5,496.00 are past due; oldest is 194 days overdue (SUPERHOUSE (UK) LIMITED, Â£238.80).</a:t>
            </a:r>
          </a:p>
        </p:txBody>
      </p:sp>
      <p:sp>
        <p:nvSpPr>
          <p:cNvPr id="454" name="r2"/>
          <p:cNvSpPr/>
          <p:nvPr/>
        </p:nvSpPr>
        <p:spPr>
          <a:xfrm>
            <a:off x="411480" y="2395728"/>
            <a:ext cx="5504688" cy="1261872"/>
          </a:xfrm>
          <a:prstGeom prst="roundRect">
            <a:avLst/>
          </a:prstGeom>
          <a:solidFill>
            <a:srgbClr val="EEF2FF"/>
          </a:solidFill>
          <a:ln w="15875">
            <a:solidFill>
              <a:srgbClr val="4F46E5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58" name="rt2"/>
          <p:cNvSpPr/>
          <p:nvPr/>
        </p:nvSpPr>
        <p:spPr>
          <a:xfrm>
            <a:off x="548640" y="2468880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4F46E5"/>
                </a:solidFill>
                <a:latin typeface="Segoe UI"/>
              </a:rPr>
              <a:t>DELIVERY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6 of 8 development projects exceed estimates; worst overruns: Nomads Clothing +275.4%, AMEN SHOES +150.9%, CATESBY ENGLAND +132.4%.</a:t>
            </a:r>
          </a:p>
        </p:txBody>
      </p:sp>
      <p:sp>
        <p:nvSpPr>
          <p:cNvPr id="462" name="r3"/>
          <p:cNvSpPr/>
          <p:nvPr/>
        </p:nvSpPr>
        <p:spPr>
          <a:xfrm>
            <a:off x="6190488" y="2395728"/>
            <a:ext cx="5504688" cy="1261872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66" name="rt3"/>
          <p:cNvSpPr/>
          <p:nvPr/>
        </p:nvSpPr>
        <p:spPr>
          <a:xfrm>
            <a:off x="6327648" y="2468880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45309"/>
                </a:solidFill>
                <a:latin typeface="Segoe UI"/>
              </a:rPr>
              <a:t>REVENUE RECOVERY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CATESBY ENGLAND: 92h 58m delivered, Â£1,200.00 invoiced, only Â£480.00 received â€” Â£720.00 outstanding.</a:t>
            </a:r>
          </a:p>
        </p:txBody>
      </p:sp>
      <p:sp>
        <p:nvSpPr>
          <p:cNvPr id="470" name="r4"/>
          <p:cNvSpPr/>
          <p:nvPr/>
        </p:nvSpPr>
        <p:spPr>
          <a:xfrm>
            <a:off x="411480" y="3785616"/>
            <a:ext cx="5504688" cy="1261872"/>
          </a:xfrm>
          <a:prstGeom prst="roundRect">
            <a:avLst/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74" name="rt4"/>
          <p:cNvSpPr/>
          <p:nvPr/>
        </p:nvSpPr>
        <p:spPr>
          <a:xfrm>
            <a:off x="548640" y="3858768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B45309"/>
                </a:solidFill>
                <a:latin typeface="Segoe UI"/>
              </a:rPr>
              <a:t>BILLING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328h 55m delivered with no invoice identified (NWT 144h 17m, Silver Street London 80h 55m, Nomads Saige 67h 03m).</a:t>
            </a:r>
          </a:p>
        </p:txBody>
      </p:sp>
      <p:sp>
        <p:nvSpPr>
          <p:cNvPr id="478" name="r5"/>
          <p:cNvSpPr/>
          <p:nvPr/>
        </p:nvSpPr>
        <p:spPr>
          <a:xfrm>
            <a:off x="6190488" y="3785616"/>
            <a:ext cx="5504688" cy="1261872"/>
          </a:xfrm>
          <a:prstGeom prst="roundRect">
            <a:avLst/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82" name="rt5"/>
          <p:cNvSpPr/>
          <p:nvPr/>
        </p:nvSpPr>
        <p:spPr>
          <a:xfrm>
            <a:off x="6327648" y="3858768"/>
            <a:ext cx="5230368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0D9488"/>
                </a:solidFill>
                <a:latin typeface="Segoe UI"/>
              </a:rPr>
              <a:t>PROJECT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Nomads Clothing is marked Complete but its invoice linkage needs verification (30h 02m delivered).</a:t>
            </a:r>
          </a:p>
        </p:txBody>
      </p:sp>
      <p:sp>
        <p:nvSpPr>
          <p:cNvPr id="486" name="r6"/>
          <p:cNvSpPr/>
          <p:nvPr/>
        </p:nvSpPr>
        <p:spPr>
          <a:xfrm>
            <a:off x="411480" y="5175504"/>
            <a:ext cx="11375136" cy="1261872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64748B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490" name="rt6"/>
          <p:cNvSpPr/>
          <p:nvPr/>
        </p:nvSpPr>
        <p:spPr>
          <a:xfrm>
            <a:off x="548640" y="5248656"/>
            <a:ext cx="11100816" cy="1133856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200"/>
              </a:spcAft>
            </a:pPr>
            <a:r>
              <a:rPr lang="en-GB" sz="950" b="1">
                <a:solidFill>
                  <a:srgbClr val="64748B"/>
                </a:solidFill>
                <a:latin typeface="Segoe UI"/>
              </a:rPr>
              <a:t>DATA RISK</a:t>
            </a:r>
          </a:p>
          <a:p>
            <a:pPr algn="l"/>
            <a:r>
              <a:rPr lang="en-GB" sz="1050">
                <a:solidFill>
                  <a:srgbClr val="1E293B"/>
                </a:solidFill>
                <a:latin typeface="Segoe UI"/>
              </a:rPr>
              <a:t>Invoice 510492000001279049 is marked Overdue yet has a payment date; PM logged-time total differs by 2m from project rows; 5 PM projects have no invoice match.</a:t>
            </a:r>
          </a:p>
        </p:txBody>
      </p:sp>
      <p:sp>
        <p:nvSpPr>
          <p:cNvPr id="494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95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496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499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WHAT SHOULD MANAGEMENT DO?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Recommended Management Actions</a:t>
            </a:r>
          </a:p>
        </p:txBody>
      </p:sp>
      <p:sp>
        <p:nvSpPr>
          <p:cNvPr id="502" name="recs"/>
          <p:cNvSpPr/>
          <p:nvPr/>
        </p:nvSpPr>
        <p:spPr>
          <a:xfrm>
            <a:off x="411480" y="1051560"/>
            <a:ext cx="11375136" cy="397764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1.  Chase the Â£5,496.00 past-due portfolio immediately â€” start with BRIGGS INDUSTRIAL FOOTWEAR LIMITED (Â£1,196.40) and the oldest SUPERHOUSE (UK) invoice (194 days overdue).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2.  Resolve the unbilled development effort (328h 55m, approx Â£3,289.17): confirm scope and raise invoices for NWT, Silver Street London, Nomads Saige, AMEN SHOES and FOOTWEAR DEPOT - 1, or formally write the effort off.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3.  Verify the Nomads Clothing project against the May 2026 Nomads web-development invoice to close the matching gap.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4.  Investigate effort overruns (up to +275%) and re-baseline estimates; introduce estimate-approval checkpoints before work continues.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5.  Set billing checkpoints on in-progress development projects so delivered hours are invoiced monthly.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6.  Fix data quality: reconcile invoice 510492000001279049 (Overdue with a payment date) and confirm the 'Monthly - Catesby England' billing entity under Patrick Shoes Limited.</a:t>
            </a:r>
          </a:p>
          <a:p>
            <a:pPr algn="l">
              <a:spcAft>
                <a:spcPts val="800"/>
              </a:spcAft>
            </a:pPr>
            <a:r>
              <a:rPr lang="en-GB" sz="1150">
                <a:solidFill>
                  <a:srgbClr val="1E293B"/>
                </a:solidFill>
                <a:latin typeface="Segoe UI"/>
              </a:rPr>
              <a:t>7.  Monitor the 2026 cohort outstanding (Â£6,214.80) monthly until collected.</a:t>
            </a:r>
          </a:p>
        </p:txBody>
      </p:sp>
      <p:sp>
        <p:nvSpPr>
          <p:cNvPr id="506" name="callout"/>
          <p:cNvSpPr/>
          <p:nvPr/>
        </p:nvSpPr>
        <p:spPr>
          <a:xfrm>
            <a:off x="411480" y="5257800"/>
            <a:ext cx="11384280" cy="105156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0F172A"/>
            </a:solidFill>
          </a:ln>
        </p:spPr>
        <p:txBody>
          <a:bodyPr wrap="square" anchor="t" lIns="73152" tIns="36576" rIns="73152" bIns="36576"/>
          <a:lstStyle/>
        </p:txBody>
      </p:sp>
      <p:sp>
        <p:nvSpPr>
          <p:cNvPr id="507" name="callout-txt"/>
          <p:cNvSpPr/>
          <p:nvPr/>
        </p:nvSpPr>
        <p:spPr>
          <a:xfrm>
            <a:off x="521208" y="5330952"/>
            <a:ext cx="11164824" cy="905256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/>
            <a:r>
              <a:rPr lang="en-GB" sz="1200">
                <a:solidFill>
                  <a:srgbClr val="1E3A8A"/>
                </a:solidFill>
                <a:latin typeface="Segoe UI"/>
              </a:rPr>
              <a:t>MANAGEMENT FOCUS: £32,834.40 of £39,049.20 invoiced has been collected (84.1%). The immediate priorities are recovering £6,214.80 of 2026 receivables and converting approx £3,289.17 of delivered-but-unbilled development effort into invoices — together worth roughly £9,504 of at-risk value.</a:t>
            </a:r>
          </a:p>
        </p:txBody>
      </p:sp>
      <p:sp>
        <p:nvSpPr>
          <p:cNvPr id="510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11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12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15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DEVELOPMENT PROJECTS (PM LAYER)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A — Detailed Project Analysis</a:t>
            </a:r>
          </a:p>
        </p:txBody>
      </p:sp>
      <p:graphicFrame>
        <p:nvGraphicFramePr>
          <p:cNvPr id="518" name="Table 518"/>
          <p:cNvGraphicFramePr>
            <a:graphicFrameLocks noGrp="1"/>
          </p:cNvGraphicFramePr>
          <p:nvPr/>
        </p:nvGraphicFramePr>
        <p:xfrm>
          <a:off x="411480" y="1051560"/>
          <a:ext cx="11475720" cy="5559552"/>
        </p:xfrm>
        <a:graphic>
          <a:graphicData uri="http://schemas.openxmlformats.org/drawingml/2006/table">
            <a:tbl>
              <a:tblPr firstRow="1" bandRow="1"/>
              <a:tblGrid>
                <a:gridCol w="1920240"/>
                <a:gridCol w="2514600"/>
                <a:gridCol w="1234440"/>
                <a:gridCol w="1143000"/>
                <a:gridCol w="1143000"/>
                <a:gridCol w="1188720"/>
                <a:gridCol w="1143000"/>
                <a:gridCol w="118872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 b="1">
                          <a:solidFill>
                            <a:srgbClr val="FFFFFF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AMEN SHOES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Not Started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25h 09m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CATESBY ENGLAND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40h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92h 58m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£1,200.00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£480.00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 b="1">
                          <a:solidFill>
                            <a:srgbClr val="B91C1C"/>
                          </a:solidFill>
                          <a:latin typeface="Segoe UI"/>
                        </a:rPr>
                        <a:t>£720.00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FOOTWEAR DEPOT - 1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Patrick Shoes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40h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11h 31m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30h 02m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Saige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03m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Trade Website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Complete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67h 50m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84h 56m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£1,437.60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£1,437.60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NWT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NOMADS CLOTHING LIMITED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00m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144h 17m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Silver Street London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SUPERHOUSE (UK) LIMITED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In Progress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90h 00m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80h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-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22" name="noteA"/>
          <p:cNvSpPr/>
          <p:nvPr/>
        </p:nvSpPr>
        <p:spPr>
          <a:xfrm>
            <a:off x="411480" y="4937760"/>
            <a:ext cx="11384280" cy="109728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000">
                <a:solidFill>
                  <a:srgbClr val="475569"/>
                </a:solidFill>
                <a:latin typeface="Segoe UI"/>
              </a:rPr>
              <a:t>Payment scenario per project: Paid = Nomads Trade Website; Partially Paid = CATESBY ENGLAND; Needs Verification = Nomads Clothing; Unbilled = AMEN SHOES, FOOTWEAR DEPOT - 1, Nomads Saige, NWT, Silver Street London. Effort figures from WorkGrid; financial figures from the invoice layer (linked by client + project name where reliable).</a:t>
            </a:r>
          </a:p>
        </p:txBody>
      </p:sp>
      <p:sp>
        <p:nvSpPr>
          <p:cNvPr id="526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27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28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31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ALL UNPAID INVOICES, OLDEST FIRST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B — Outstanding Invoices</a:t>
            </a:r>
          </a:p>
        </p:txBody>
      </p:sp>
      <p:graphicFrame>
        <p:nvGraphicFramePr>
          <p:cNvPr id="534" name="Table 534"/>
          <p:cNvGraphicFramePr>
            <a:graphicFrameLocks noGrp="1"/>
          </p:cNvGraphicFramePr>
          <p:nvPr/>
        </p:nvGraphicFramePr>
        <p:xfrm>
          <a:off x="411480" y="1005840"/>
          <a:ext cx="9921240" cy="5207508"/>
        </p:xfrm>
        <a:graphic>
          <a:graphicData uri="http://schemas.openxmlformats.org/drawingml/2006/table">
            <a:tbl>
              <a:tblPr firstRow="1" bandRow="1"/>
              <a:tblGrid>
                <a:gridCol w="2148840"/>
                <a:gridCol w="2286000"/>
                <a:gridCol w="1051560"/>
                <a:gridCol w="1051560"/>
                <a:gridCol w="914400"/>
                <a:gridCol w="1234440"/>
                <a:gridCol w="1234440"/>
              </a:tblGrid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C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I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510492000001001139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2026-02-01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194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510492000001093139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2026-03-01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166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510492000001180143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510492000001180071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2026-04-01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135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510492000001231066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510492000001231033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2026-05-01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105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SUPERHOUSE (UK)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510492000001279066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Patrick Shoes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510492000001279338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£240.00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£240.00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NOMADS CLOTHING Ltd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510492000001279033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£238.80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Patrick Shoes Ltd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510492000001279049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2026-06-01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£477.60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B91C1C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£477.60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GB" sz="950">
                          <a:solidFill>
                            <a:srgbClr val="0F172A"/>
                          </a:solidFill>
                          <a:latin typeface="Segoe UI"/>
                        </a:rPr>
                        <a:t>74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38" name="noteB"/>
          <p:cNvSpPr/>
          <p:nvPr/>
        </p:nvSpPr>
        <p:spPr>
          <a:xfrm>
            <a:off x="411480" y="4709160"/>
            <a:ext cx="11384280" cy="82296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950">
                <a:solidFill>
                  <a:srgbClr val="64748B"/>
                </a:solidFill>
                <a:latin typeface="Segoe UI"/>
              </a:rPr>
              <a:t>Outstanding = invoice total minus amount paid, per invoice. One invoice (510492000001279049, Patrick Shoes) is marked Overdue but has a payment date recorded — flagged for review in Data Quality.</a:t>
            </a:r>
          </a:p>
        </p:txBody>
      </p:sp>
      <p:sp>
        <p:nvSpPr>
          <p:cNvPr id="542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43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44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titlebar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47" name="title"/>
          <p:cNvSpPr/>
          <p:nvPr/>
        </p:nvSpPr>
        <p:spPr>
          <a:xfrm>
            <a:off x="411480" y="54864"/>
            <a:ext cx="11338560" cy="713232"/>
          </a:xfrm>
          <a:prstGeom prst="rect">
            <a:avLst/>
          </a:prstGeom>
          <a:noFill/>
          <a:ln>
            <a:noFill/>
          </a:ln>
        </p:spPr>
        <p:txBody>
          <a:bodyPr wrap="square" anchor="ctr" lIns="73152" tIns="36576" rIns="73152" bIns="36576"/>
          <a:lstStyle/>
          <a:p>
            <a:pPr algn="l">
              <a:spcAft>
                <a:spcPts val="100"/>
              </a:spcAft>
            </a:pPr>
            <a:r>
              <a:rPr lang="en-GB" sz="950" b="1">
                <a:solidFill>
                  <a:srgbClr val="93C5FD"/>
                </a:solidFill>
                <a:latin typeface="Segoe UI"/>
              </a:rPr>
              <a:t>AUDITABILITY</a:t>
            </a:r>
          </a:p>
          <a:p>
            <a:pPr algn="l"/>
            <a:r>
              <a:rPr lang="en-GB" sz="2100" b="1">
                <a:solidFill>
                  <a:srgbClr val="FFFFFF"/>
                </a:solidFill>
                <a:latin typeface="Segoe UI"/>
              </a:rPr>
              <a:t>Appendix C — Data Quality &amp; Reconciliation</a:t>
            </a:r>
          </a:p>
        </p:txBody>
      </p:sp>
      <p:sp>
        <p:nvSpPr>
          <p:cNvPr id="550" name="dq"/>
          <p:cNvSpPr/>
          <p:nvPr/>
        </p:nvSpPr>
        <p:spPr>
          <a:xfrm>
            <a:off x="411480" y="1005840"/>
            <a:ext cx="11375136" cy="228600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>
              <a:spcAft>
                <a:spcPts val="400"/>
              </a:spcAft>
            </a:pPr>
            <a:r>
              <a:rPr lang="en-GB" sz="1100" b="1">
                <a:solidFill>
                  <a:srgbClr val="0F172A"/>
                </a:solidFill>
                <a:latin typeface="Segoe UI"/>
              </a:rPr>
              <a:t>Matching &amp; data issues (from the dashboard Data Quality report):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5 PM projects have no invoice match (reported as Unbilled, not as outstanding invoices); Nomads Clothing is Needs Verification.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Invoice 510492000001279049 is marked Overdue yet has a Last Payment Date — contradictory record.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147 Excel rows = 125 unique invoices (22 extra rows are line items of multi-line invoices; header amounts counted once).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PM reported Total Logged Time (536h 53m) differs from the sum of project rows (536h 51m) by 2 minutes — source rounding.</a:t>
            </a:r>
          </a:p>
          <a:p>
            <a:pPr algn="l" marL="228600" indent="-228600">
              <a:spcAft>
                <a:spcPts val="400"/>
              </a:spcAft>
              <a:buFont typeface="Arial"/>
              <a:buChar char="•"/>
            </a:pPr>
            <a:r>
              <a:rPr lang="en-GB" sz="1050">
                <a:solidFill>
                  <a:srgbClr val="1E293B"/>
                </a:solidFill>
                <a:latin typeface="Segoe UI"/>
              </a:rPr>
              <a:t>No amount-paid column exists in the source; payment is inferred from invoice status. Partial payments are not detectable.</a:t>
            </a:r>
          </a:p>
        </p:txBody>
      </p:sp>
      <p:sp>
        <p:nvSpPr>
          <p:cNvPr id="554" name="sh"/>
          <p:cNvSpPr/>
          <p:nvPr/>
        </p:nvSpPr>
        <p:spPr>
          <a:xfrm>
            <a:off x="411480" y="3383280"/>
            <a:ext cx="7315200" cy="292608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1300" b="1">
                <a:solidFill>
                  <a:srgbClr val="0F172A"/>
                </a:solidFill>
                <a:latin typeface="Segoe UI"/>
              </a:rPr>
              <a:t>Reconciliation — Dashboard vs Presentation</a:t>
            </a:r>
          </a:p>
        </p:txBody>
      </p:sp>
      <p:graphicFrame>
        <p:nvGraphicFramePr>
          <p:cNvPr id="558" name="Table 558"/>
          <p:cNvGraphicFramePr>
            <a:graphicFrameLocks noGrp="1"/>
          </p:cNvGraphicFramePr>
          <p:nvPr/>
        </p:nvGraphicFramePr>
        <p:xfrm>
          <a:off x="411480" y="3703320"/>
          <a:ext cx="9966960" cy="2194560"/>
        </p:xfrm>
        <a:graphic>
          <a:graphicData uri="http://schemas.openxmlformats.org/drawingml/2006/table">
            <a:tbl>
              <a:tblPr firstRow="1" bandRow="1"/>
              <a:tblGrid>
                <a:gridCol w="3017520"/>
                <a:gridCol w="2743200"/>
                <a:gridCol w="2743200"/>
                <a:gridCol w="1463040"/>
              </a:tblGrid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KPI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HTML Dashboard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This Presentation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950" b="1">
                          <a:solidFill>
                            <a:srgbClr val="FFFFFF"/>
                          </a:solidFill>
                          <a:latin typeface="Segoe UI"/>
                        </a:rPr>
                        <a:t>Diff</a:t>
                      </a:r>
                    </a:p>
                  </a:txBody>
                  <a:tcPr marL="54864" marR="54864" marT="18288" marB="18288" anchor="ctr">
                    <a:solidFill>
                      <a:srgbClr val="0F172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Projects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Invoices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125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Invoiced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£39,049.20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£39,049.20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Paid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£32,834.40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£32,834.40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Total Outstanding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£6,214.80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£6,214.80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£0.00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Development Hours (actual)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536h 51m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0m</a:t>
                      </a:r>
                    </a:p>
                  </a:txBody>
                  <a:tcPr marL="54864" marR="54864" marT="18288" marB="18288" anchor="ctr"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Unbilled Effort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328h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328h 55m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GB" sz="1000">
                          <a:solidFill>
                            <a:srgbClr val="0F172A"/>
                          </a:solidFill>
                          <a:latin typeface="Segoe UI"/>
                        </a:rPr>
                        <a:t>0m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62" name="fline"/>
          <p:cNvSpPr/>
          <p:nvPr/>
        </p:nvSpPr>
        <p:spPr>
          <a:xfrm>
            <a:off x="411480" y="6510528"/>
            <a:ext cx="11375136" cy="10973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wrap="square" anchor="t" lIns="73152" tIns="36576" rIns="73152" bIns="36576"/>
          <a:lstStyle/>
        </p:txBody>
      </p:sp>
      <p:sp>
        <p:nvSpPr>
          <p:cNvPr id="563" name="ftext"/>
          <p:cNvSpPr/>
          <p:nvPr/>
        </p:nvSpPr>
        <p:spPr>
          <a:xfrm>
            <a:off x="411480" y="6547104"/>
            <a:ext cx="96012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l"/>
            <a:r>
              <a:rPr lang="en-GB" sz="850">
                <a:solidFill>
                  <a:srgbClr val="64748B"/>
                </a:solidFill>
                <a:latin typeface="Segoe UI"/>
              </a:rPr>
              <a:t>Confidential — Management Use Only  |  Invoice, Project &amp; Development Effort Analysis  |  Data as of 2026-08-19</a:t>
            </a:r>
          </a:p>
        </p:txBody>
      </p:sp>
      <p:sp>
        <p:nvSpPr>
          <p:cNvPr id="564" name="pnum"/>
          <p:cNvSpPr/>
          <p:nvPr/>
        </p:nvSpPr>
        <p:spPr>
          <a:xfrm>
            <a:off x="10881360" y="6547104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wrap="square" anchor="t" lIns="73152" tIns="36576" rIns="73152" bIns="36576"/>
          <a:lstStyle/>
          <a:p>
            <a:pPr algn="r"/>
            <a:r>
              <a:rPr lang="en-GB" sz="850">
                <a:solidFill>
                  <a:srgbClr val="64748B"/>
                </a:solidFill>
                <a:latin typeface="Segoe U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gmtTheme">
  <a:themeElements>
    <a:clrScheme name="Mgmt">
      <a:dk1>
        <a:srgbClr val="0F172A"/>
      </a:dk1>
      <a:lt1>
        <a:srgbClr val="FFFFFF"/>
      </a:lt1>
      <a:dk2>
        <a:srgbClr val="1E293B"/>
      </a:dk2>
      <a:lt2>
        <a:srgbClr val="F1F5F9"/>
      </a:lt2>
      <a:accent1>
        <a:srgbClr val="1E40AF"/>
      </a:accent1>
      <a:accent2>
        <a:srgbClr val="15803D"/>
      </a:accent2>
      <a:accent3>
        <a:srgbClr val="B91C1C"/>
      </a:accent3>
      <a:accent4>
        <a:srgbClr val="0D9488"/>
      </a:accent4>
      <a:accent5>
        <a:srgbClr val="4F46E5"/>
      </a:accent5>
      <a:accent6>
        <a:srgbClr val="B45309"/>
      </a:accent6>
      <a:hlink>
        <a:srgbClr val="1E40AF"/>
      </a:hlink>
      <a:folHlink>
        <a:srgbClr val="64748B"/>
      </a:folHlink>
    </a:clrScheme>
    <a:fontScheme name="Segoe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Mgmt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PresentationFormat>Widescreen</PresentationFormat>
  <Slides>18</Slides>
  <Company/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Invoice, Project &amp; Development Effort Analysis</dc:title>
  <dc:subject>Management Review 2023 - Present</dc:subject>
  <dc:creator>Business Analysis</dc:creator>
  <cp:lastModifiedBy>Business Analysis</cp:lastModifiedBy>
  <dcterms:created xsi:type="dcterms:W3CDTF">2026-08-19T09:00:00Z</dcterms:created>
  <dcterms:modified xsi:type="dcterms:W3CDTF">2026-08-19T09:00:00Z</dcterms:modified>
</cp:coreProperties>
</file>