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" name="accent"/>
          <p:cNvSpPr/>
          <p:nvPr/>
        </p:nvSpPr>
        <p:spPr>
          <a:xfrm>
            <a:off x="822960" y="1847088"/>
            <a:ext cx="201168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2" name="t1"/>
          <p:cNvSpPr/>
          <p:nvPr/>
        </p:nvSpPr>
        <p:spPr>
          <a:xfrm>
            <a:off x="822960" y="20574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4000" b="1">
                <a:solidFill>
                  <a:srgbClr val="FFFFFF"/>
                </a:solidFill>
                <a:latin typeface="Segoe UI"/>
              </a:rPr>
              <a:t>Invoice, Project &amp; Development Effort Analysis</a:t>
            </a:r>
          </a:p>
        </p:txBody>
      </p:sp>
      <p:sp>
        <p:nvSpPr>
          <p:cNvPr id="26" name="t2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700">
                <a:solidFill>
                  <a:srgbClr val="93C5FD"/>
                </a:solidFill>
                <a:latin typeface="Segoe UI"/>
              </a:rPr>
              <a:t>Management Review  |  Period: 2023 — Present (as of 2026-08-19)</a:t>
            </a:r>
          </a:p>
        </p:txBody>
      </p:sp>
      <p:sp>
        <p:nvSpPr>
          <p:cNvPr id="30" name="t3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200">
                <a:solidFill>
                  <a:srgbClr val="94A3B8"/>
                </a:solidFill>
                <a:latin typeface="Segoe UI"/>
              </a:rPr>
              <a:t>Prepared for Senior Management  |  Source: Invoice Analysis workbook + WorkGrid project dashboard</a:t>
            </a:r>
          </a:p>
        </p:txBody>
      </p:sp>
      <p:sp>
        <p:nvSpPr>
          <p:cNvPr id="34" name="conf"/>
          <p:cNvSpPr/>
          <p:nvPr/>
        </p:nvSpPr>
        <p:spPr>
          <a:xfrm>
            <a:off x="822960" y="4343400"/>
            <a:ext cx="3291840" cy="384048"/>
          </a:xfrm>
          <a:prstGeom prst="roundRect">
            <a:avLst/>
          </a:prstGeom>
          <a:noFill/>
          <a:ln w="12700">
            <a:solidFill>
              <a:srgbClr val="93C5FD"/>
            </a:solidFill>
          </a:ln>
        </p:spPr>
        <p:txBody>
          <a:bodyPr wrap="square" anchor="ctr" lIns="73152" tIns="36576" rIns="73152" bIns="36576"/>
          <a:lstStyle/>
          <a:p>
            <a:pPr algn="ctr"/>
            <a:r>
              <a:rPr lang="en-GB" sz="1050" b="1">
                <a:solidFill>
                  <a:srgbClr val="93C5FD"/>
                </a:solidFill>
                <a:latin typeface="Segoe UI"/>
              </a:rPr>
              <a:t>CONFIDENTIAL — MANAGEMENT USE ONLY</a:t>
            </a:r>
          </a:p>
        </p:txBody>
      </p:sp>
      <p:sp>
        <p:nvSpPr>
          <p:cNvPr id="38" name="mk0"/>
          <p:cNvSpPr/>
          <p:nvPr/>
        </p:nvSpPr>
        <p:spPr>
          <a:xfrm>
            <a:off x="82296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2" name="mkt0"/>
          <p:cNvSpPr/>
          <p:nvPr/>
        </p:nvSpPr>
        <p:spPr>
          <a:xfrm>
            <a:off x="96012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Total Invoiced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£39,049</a:t>
            </a:r>
          </a:p>
        </p:txBody>
      </p:sp>
      <p:sp>
        <p:nvSpPr>
          <p:cNvPr id="46" name="mk1"/>
          <p:cNvSpPr/>
          <p:nvPr/>
        </p:nvSpPr>
        <p:spPr>
          <a:xfrm>
            <a:off x="352044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0" name="mkt1"/>
          <p:cNvSpPr/>
          <p:nvPr/>
        </p:nvSpPr>
        <p:spPr>
          <a:xfrm>
            <a:off x="365760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Collected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£32,834</a:t>
            </a:r>
          </a:p>
        </p:txBody>
      </p:sp>
      <p:sp>
        <p:nvSpPr>
          <p:cNvPr id="54" name="mk2"/>
          <p:cNvSpPr/>
          <p:nvPr/>
        </p:nvSpPr>
        <p:spPr>
          <a:xfrm>
            <a:off x="621792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8" name="mkt2"/>
          <p:cNvSpPr/>
          <p:nvPr/>
        </p:nvSpPr>
        <p:spPr>
          <a:xfrm>
            <a:off x="635508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Outstanding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£6,215</a:t>
            </a:r>
          </a:p>
        </p:txBody>
      </p:sp>
      <p:sp>
        <p:nvSpPr>
          <p:cNvPr id="62" name="mk3"/>
          <p:cNvSpPr/>
          <p:nvPr/>
        </p:nvSpPr>
        <p:spPr>
          <a:xfrm>
            <a:off x="891540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66" name="mkt3"/>
          <p:cNvSpPr/>
          <p:nvPr/>
        </p:nvSpPr>
        <p:spPr>
          <a:xfrm>
            <a:off x="905256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Dev Hours Delivered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536h 51m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WHAT IS OUR OVERALL POSITION?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Financial Performance Overview</a:t>
            </a:r>
          </a:p>
        </p:txBody>
      </p:sp>
      <p:sp>
        <p:nvSpPr>
          <p:cNvPr id="122" name="kpi-strip"/>
          <p:cNvSpPr/>
          <p:nvPr/>
        </p:nvSpPr>
        <p:spPr>
          <a:xfrm>
            <a:off x="411480" y="1005840"/>
            <a:ext cx="420624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3" name="kpi-card"/>
          <p:cNvSpPr/>
          <p:nvPr/>
        </p:nvSpPr>
        <p:spPr>
          <a:xfrm>
            <a:off x="411480" y="1005840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4" name="kpi-txt"/>
          <p:cNvSpPr/>
          <p:nvPr/>
        </p:nvSpPr>
        <p:spPr>
          <a:xfrm>
            <a:off x="457200" y="1097280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£39,049.20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net £32,541.00 + VAT £6,508.20</a:t>
            </a:r>
          </a:p>
        </p:txBody>
      </p:sp>
      <p:sp>
        <p:nvSpPr>
          <p:cNvPr id="126" name="kpi-strip"/>
          <p:cNvSpPr/>
          <p:nvPr/>
        </p:nvSpPr>
        <p:spPr>
          <a:xfrm>
            <a:off x="411480" y="2039112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7" name="kpi-card"/>
          <p:cNvSpPr/>
          <p:nvPr/>
        </p:nvSpPr>
        <p:spPr>
          <a:xfrm>
            <a:off x="411480" y="2039112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8" name="kpi-txt"/>
          <p:cNvSpPr/>
          <p:nvPr/>
        </p:nvSpPr>
        <p:spPr>
          <a:xfrm>
            <a:off x="457200" y="2130552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£32,834.40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104 paid invoices</a:t>
            </a:r>
          </a:p>
        </p:txBody>
      </p:sp>
      <p:sp>
        <p:nvSpPr>
          <p:cNvPr id="130" name="kpi-strip"/>
          <p:cNvSpPr/>
          <p:nvPr/>
        </p:nvSpPr>
        <p:spPr>
          <a:xfrm>
            <a:off x="411480" y="3072384"/>
            <a:ext cx="4206240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1" name="kpi-card"/>
          <p:cNvSpPr/>
          <p:nvPr/>
        </p:nvSpPr>
        <p:spPr>
          <a:xfrm>
            <a:off x="411480" y="3072384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2" name="kpi-txt"/>
          <p:cNvSpPr/>
          <p:nvPr/>
        </p:nvSpPr>
        <p:spPr>
          <a:xfrm>
            <a:off x="457200" y="3163824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B91C1C"/>
                </a:solidFill>
                <a:latin typeface="Segoe UI"/>
              </a:rPr>
              <a:t>£6,214.80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21 unpaid invoices</a:t>
            </a:r>
          </a:p>
        </p:txBody>
      </p:sp>
      <p:sp>
        <p:nvSpPr>
          <p:cNvPr id="134" name="kpi-strip"/>
          <p:cNvSpPr/>
          <p:nvPr/>
        </p:nvSpPr>
        <p:spPr>
          <a:xfrm>
            <a:off x="411480" y="4105656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5" name="kpi-card"/>
          <p:cNvSpPr/>
          <p:nvPr/>
        </p:nvSpPr>
        <p:spPr>
          <a:xfrm>
            <a:off x="411480" y="4105656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6" name="kpi-txt"/>
          <p:cNvSpPr/>
          <p:nvPr/>
        </p:nvSpPr>
        <p:spPr>
          <a:xfrm>
            <a:off x="457200" y="4197096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avg 53.9 days to payment</a:t>
            </a:r>
          </a:p>
        </p:txBody>
      </p:sp>
      <p:sp>
        <p:nvSpPr>
          <p:cNvPr id="142" name="callout"/>
          <p:cNvSpPr/>
          <p:nvPr/>
        </p:nvSpPr>
        <p:spPr>
          <a:xfrm>
            <a:off x="4937760" y="5212080"/>
            <a:ext cx="6858000" cy="10058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E40AF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43" name="callout-txt"/>
          <p:cNvSpPr/>
          <p:nvPr/>
        </p:nvSpPr>
        <p:spPr>
          <a:xfrm>
            <a:off x="5047488" y="5285232"/>
            <a:ext cx="6638544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£32,834.40 of £39,049.20 invoiced value has been collected (84.1%). £6,214.80 (15.9%) remains outstanding — all of it in the 2026 invoice cohort.</a:t>
            </a:r>
          </a:p>
        </p:txBody>
      </p:sp>
      <p:sp>
        <p:nvSpPr>
          <p:cNvPr id="14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4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4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5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BUSINESS HAVE WE GENERATED?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Year-wise Financial Performance</a:t>
            </a:r>
          </a:p>
        </p:txBody>
      </p:sp>
      <p:sp>
        <p:nvSpPr>
          <p:cNvPr id="158" name="sh"/>
          <p:cNvSpPr/>
          <p:nvPr/>
        </p:nvSpPr>
        <p:spPr>
          <a:xfrm>
            <a:off x="8001000" y="10058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Observations</a:t>
            </a:r>
          </a:p>
        </p:txBody>
      </p:sp>
      <p:sp>
        <p:nvSpPr>
          <p:cNvPr id="162" name="obs"/>
          <p:cNvSpPr/>
          <p:nvPr/>
        </p:nvSpPr>
        <p:spPr>
          <a:xfrm>
            <a:off x="8001000" y="1371600"/>
            <a:ext cx="3794760" cy="40233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2025 was the highest-revenue year: £14,566.80 across 49 invoices.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2023—2025 cohorts are 100% collected; 2026 collection stands at 50.9%.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Invoiced value grew strongly 2023 to 2025, then moderated in 2026 (£12,669.60).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All outstanding (£6,214.80) was generated by 2026 invoices — driven by the monthly retainer run.</a:t>
            </a:r>
          </a:p>
        </p:txBody>
      </p:sp>
      <p:sp>
        <p:nvSpPr>
          <p:cNvPr id="16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6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6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BUSINESS ACQUISITION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Project &amp; Client Growth</a:t>
            </a:r>
          </a:p>
        </p:txBody>
      </p:sp>
      <p:sp>
        <p:nvSpPr>
          <p:cNvPr id="178" name="kpi-strip"/>
          <p:cNvSpPr/>
          <p:nvPr/>
        </p:nvSpPr>
        <p:spPr>
          <a:xfrm>
            <a:off x="7452360" y="1005840"/>
            <a:ext cx="434340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79" name="kpi-card"/>
          <p:cNvSpPr/>
          <p:nvPr/>
        </p:nvSpPr>
        <p:spPr>
          <a:xfrm>
            <a:off x="7452360" y="1005840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0" name="kpi-txt"/>
          <p:cNvSpPr/>
          <p:nvPr/>
        </p:nvSpPr>
        <p:spPr>
          <a:xfrm>
            <a:off x="7498080" y="1097280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</p:txBody>
      </p:sp>
      <p:sp>
        <p:nvSpPr>
          <p:cNvPr id="182" name="kpi-strip"/>
          <p:cNvSpPr/>
          <p:nvPr/>
        </p:nvSpPr>
        <p:spPr>
          <a:xfrm>
            <a:off x="7452360" y="2084832"/>
            <a:ext cx="434340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3" name="kpi-card"/>
          <p:cNvSpPr/>
          <p:nvPr/>
        </p:nvSpPr>
        <p:spPr>
          <a:xfrm>
            <a:off x="7452360" y="2084832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4" name="kpi-txt"/>
          <p:cNvSpPr/>
          <p:nvPr/>
        </p:nvSpPr>
        <p:spPr>
          <a:xfrm>
            <a:off x="7498080" y="2176272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186" name="kpi-strip"/>
          <p:cNvSpPr/>
          <p:nvPr/>
        </p:nvSpPr>
        <p:spPr>
          <a:xfrm>
            <a:off x="7452360" y="3163824"/>
            <a:ext cx="4343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7" name="kpi-card"/>
          <p:cNvSpPr/>
          <p:nvPr/>
        </p:nvSpPr>
        <p:spPr>
          <a:xfrm>
            <a:off x="7452360" y="3163824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8" name="kpi-txt"/>
          <p:cNvSpPr/>
          <p:nvPr/>
        </p:nvSpPr>
        <p:spPr>
          <a:xfrm>
            <a:off x="7498080" y="3255264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Repeat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D9488"/>
                </a:solidFill>
                <a:latin typeface="Segoe UI"/>
              </a:rPr>
              <a:t>4 of 4</a:t>
            </a:r>
          </a:p>
        </p:txBody>
      </p:sp>
      <p:sp>
        <p:nvSpPr>
          <p:cNvPr id="190" name="kpi-strip"/>
          <p:cNvSpPr/>
          <p:nvPr/>
        </p:nvSpPr>
        <p:spPr>
          <a:xfrm>
            <a:off x="7452360" y="4242816"/>
            <a:ext cx="4343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1" name="kpi-card"/>
          <p:cNvSpPr/>
          <p:nvPr/>
        </p:nvSpPr>
        <p:spPr>
          <a:xfrm>
            <a:off x="7452360" y="4242816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2" name="kpi-txt"/>
          <p:cNvSpPr/>
          <p:nvPr/>
        </p:nvSpPr>
        <p:spPr>
          <a:xfrm>
            <a:off x="7498080" y="4334256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Avg Projects / Client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D9488"/>
                </a:solidFill>
                <a:latin typeface="Segoe UI"/>
              </a:rPr>
              <a:t>2.25</a:t>
            </a:r>
          </a:p>
        </p:txBody>
      </p:sp>
      <p:sp>
        <p:nvSpPr>
          <p:cNvPr id="194" name="callout"/>
          <p:cNvSpPr/>
          <p:nvPr/>
        </p:nvSpPr>
        <p:spPr>
          <a:xfrm>
            <a:off x="411480" y="5349240"/>
            <a:ext cx="11384280" cy="86868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5" name="callout-txt"/>
          <p:cNvSpPr/>
          <p:nvPr/>
        </p:nvSpPr>
        <p:spPr>
          <a:xfrm>
            <a:off x="521208" y="5422392"/>
            <a:ext cx="11164824" cy="72237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All 4 clients appear across multiple years and receive recurring monthly retainer invoices — the business is entirely repeat/retainer-driven, with acquisition concentrated in 2024 (3 new clients, 6 new projects).</a:t>
            </a:r>
          </a:p>
        </p:txBody>
      </p:sp>
      <p:sp>
        <p:nvSpPr>
          <p:cNvPr id="198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9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00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03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WHERE IS THE REVENUE COMING FROM?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SEO vs Development Performance</a:t>
            </a:r>
          </a:p>
        </p:txBody>
      </p:sp>
      <p:graphicFrame>
        <p:nvGraphicFramePr>
          <p:cNvPr id="206" name="Table 206"/>
          <p:cNvGraphicFramePr>
            <a:graphicFrameLocks noGrp="1"/>
          </p:cNvGraphicFramePr>
          <p:nvPr/>
        </p:nvGraphicFramePr>
        <p:xfrm>
          <a:off x="411480" y="1005840"/>
          <a:ext cx="7223760" cy="2798064"/>
        </p:xfrm>
        <a:graphic>
          <a:graphicData uri="http://schemas.openxmlformats.org/drawingml/2006/table">
            <a:tbl>
              <a:tblPr firstRow="1" bandRow="1"/>
              <a:tblGrid>
                <a:gridCol w="2194560"/>
                <a:gridCol w="237744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SEO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Development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Projects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5 (invoice layer)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8 PM / 4 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Invoices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114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Invoiced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£33,678.00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£5,371.20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Paid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£28,182.00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£4,652.40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Outstanding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£5,496.00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£718.80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Collection 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83.7%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86.6%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Actual Hours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no PM 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536h 51m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Effort Value (@ £10/hr)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approx 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£5,368.50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4" name="callout"/>
          <p:cNvSpPr/>
          <p:nvPr/>
        </p:nvSpPr>
        <p:spPr>
          <a:xfrm>
            <a:off x="411480" y="5029200"/>
            <a:ext cx="11384280" cy="118872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15" name="callout-txt"/>
          <p:cNvSpPr/>
          <p:nvPr/>
        </p:nvSpPr>
        <p:spPr>
          <a:xfrm>
            <a:off x="521208" y="5102352"/>
            <a:ext cx="11164824" cy="104241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150">
                <a:solidFill>
                  <a:srgbClr val="1E3A8A"/>
                </a:solidFill>
                <a:latin typeface="Segoe UI"/>
              </a:rPr>
              <a:t>SEO generates 86% of invoiced revenue (£33,678.00) on monthly retainers, with solid collection (83.7%). Development is smaller in revenue (£5,371.20, 86.6% collection) but consumes 536h 51m of delivery effort — approx £5,368.50 at £10/hr — and only £1,917.60 of development-linked invoicing has been identified as paid.</a:t>
            </a:r>
          </a:p>
        </p:txBody>
      </p:sp>
      <p:sp>
        <p:nvSpPr>
          <p:cNvPr id="218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19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20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23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WORK HAVE WE ACTUALLY DELIVERED?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Development Effort Delivered</a:t>
            </a:r>
          </a:p>
        </p:txBody>
      </p:sp>
      <p:sp>
        <p:nvSpPr>
          <p:cNvPr id="226" name="kpi-strip"/>
          <p:cNvSpPr/>
          <p:nvPr/>
        </p:nvSpPr>
        <p:spPr>
          <a:xfrm>
            <a:off x="411480" y="1005840"/>
            <a:ext cx="2706624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27" name="kpi-card"/>
          <p:cNvSpPr/>
          <p:nvPr/>
        </p:nvSpPr>
        <p:spPr>
          <a:xfrm>
            <a:off x="411480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28" name="kpi-txt"/>
          <p:cNvSpPr/>
          <p:nvPr/>
        </p:nvSpPr>
        <p:spPr>
          <a:xfrm>
            <a:off x="457200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Estimated Hours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64748B"/>
                </a:solidFill>
                <a:latin typeface="Segoe UI"/>
              </a:rPr>
              <a:t>367h 50m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8 projects</a:t>
            </a:r>
          </a:p>
        </p:txBody>
      </p:sp>
      <p:sp>
        <p:nvSpPr>
          <p:cNvPr id="230" name="kpi-strip"/>
          <p:cNvSpPr/>
          <p:nvPr/>
        </p:nvSpPr>
        <p:spPr>
          <a:xfrm>
            <a:off x="3300984" y="1005840"/>
            <a:ext cx="2706624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1" name="kpi-card"/>
          <p:cNvSpPr/>
          <p:nvPr/>
        </p:nvSpPr>
        <p:spPr>
          <a:xfrm>
            <a:off x="3300984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2" name="kpi-txt"/>
          <p:cNvSpPr/>
          <p:nvPr/>
        </p:nvSpPr>
        <p:spPr>
          <a:xfrm>
            <a:off x="3346704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Workload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B45309"/>
                </a:solidFill>
                <a:latin typeface="Segoe UI"/>
              </a:rPr>
              <a:t>402h 37m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team of 5</a:t>
            </a:r>
          </a:p>
        </p:txBody>
      </p:sp>
      <p:sp>
        <p:nvSpPr>
          <p:cNvPr id="234" name="kpi-strip"/>
          <p:cNvSpPr/>
          <p:nvPr/>
        </p:nvSpPr>
        <p:spPr>
          <a:xfrm>
            <a:off x="6190488" y="1005840"/>
            <a:ext cx="2706624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5" name="kpi-card"/>
          <p:cNvSpPr/>
          <p:nvPr/>
        </p:nvSpPr>
        <p:spPr>
          <a:xfrm>
            <a:off x="6190488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6" name="kpi-txt"/>
          <p:cNvSpPr/>
          <p:nvPr/>
        </p:nvSpPr>
        <p:spPr>
          <a:xfrm>
            <a:off x="6236208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Actual Logged Hours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F46E5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reported total 536h 53m</a:t>
            </a:r>
          </a:p>
        </p:txBody>
      </p:sp>
      <p:sp>
        <p:nvSpPr>
          <p:cNvPr id="238" name="kpi-strip"/>
          <p:cNvSpPr/>
          <p:nvPr/>
        </p:nvSpPr>
        <p:spPr>
          <a:xfrm>
            <a:off x="9079992" y="1005840"/>
            <a:ext cx="2706624" cy="64008"/>
          </a:xfrm>
          <a:prstGeom prst="rect">
            <a:avLst/>
          </a:prstGeom>
          <a:solidFill>
            <a:srgbClr val="+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9" name="kpi-card"/>
          <p:cNvSpPr/>
          <p:nvPr/>
        </p:nvSpPr>
        <p:spPr>
          <a:xfrm>
            <a:off x="9079992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40" name="kpi-txt"/>
          <p:cNvSpPr/>
          <p:nvPr/>
        </p:nvSpPr>
        <p:spPr>
          <a:xfrm>
            <a:off x="9125712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Effort Overrun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+"/>
                </a:solidFill>
                <a:latin typeface="Segoe UI"/>
              </a:rPr>
              <a:t>+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169h 01m</a:t>
            </a:r>
          </a:p>
        </p:txBody>
      </p:sp>
      <p:sp>
        <p:nvSpPr>
          <p:cNvPr id="246" name="sh"/>
          <p:cNvSpPr/>
          <p:nvPr/>
        </p:nvSpPr>
        <p:spPr>
          <a:xfrm>
            <a:off x="7635240" y="228600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Interpretation</a:t>
            </a:r>
          </a:p>
        </p:txBody>
      </p:sp>
      <p:sp>
        <p:nvSpPr>
          <p:cNvPr id="250" name="obs2"/>
          <p:cNvSpPr/>
          <p:nvPr/>
        </p:nvSpPr>
        <p:spPr>
          <a:xfrm>
            <a:off x="7635240" y="265176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Actual logged effort is significantly above estimate: 536h 51m delivered vs 367h 50m estimated (+45.9%).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Logged time also exceeds planned workload by 134h 16m (133.3% utilisation).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6 of 8 projects are over estimate — up to +275% (see Effort Variance slide).</a:t>
            </a:r>
          </a:p>
        </p:txBody>
      </p:sp>
      <p:sp>
        <p:nvSpPr>
          <p:cNvPr id="25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5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5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5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OF THAT WORK HAS BEEN FINANCIALLY RECOVERED?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Revenue vs Delivered Development Effort</a:t>
            </a:r>
          </a:p>
        </p:txBody>
      </p:sp>
      <p:sp>
        <p:nvSpPr>
          <p:cNvPr id="262" name="fl0"/>
          <p:cNvSpPr/>
          <p:nvPr/>
        </p:nvSpPr>
        <p:spPr>
          <a:xfrm>
            <a:off x="411480" y="1051560"/>
            <a:ext cx="3246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66" name="flt0"/>
          <p:cNvSpPr/>
          <p:nvPr/>
        </p:nvSpPr>
        <p:spPr>
          <a:xfrm>
            <a:off x="548640" y="118872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64748B"/>
                </a:solidFill>
                <a:latin typeface="Segoe UI"/>
              </a:rPr>
              <a:t>WORK DELIVERED</a:t>
            </a:r>
          </a:p>
          <a:p>
            <a:pPr algn="l">
              <a:spcAft>
                <a:spcPts val="200"/>
              </a:spcAft>
            </a:pPr>
            <a:r>
              <a:rPr lang="en-GB" sz="2100" b="1">
                <a:solidFill>
                  <a:srgbClr val="4F46E5"/>
                </a:solidFill>
                <a:latin typeface="Segoe UI"/>
              </a:rPr>
              <a:t>536h 51m</a:t>
            </a:r>
          </a:p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approx £5,368.50 @ £10/hr</a:t>
            </a:r>
          </a:p>
        </p:txBody>
      </p:sp>
      <p:sp>
        <p:nvSpPr>
          <p:cNvPr id="270" name="arr0"/>
          <p:cNvSpPr/>
          <p:nvPr/>
        </p:nvSpPr>
        <p:spPr>
          <a:xfrm>
            <a:off x="3776472" y="1600200"/>
            <a:ext cx="5029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74" name="fl1"/>
          <p:cNvSpPr/>
          <p:nvPr/>
        </p:nvSpPr>
        <p:spPr>
          <a:xfrm>
            <a:off x="4480560" y="1051560"/>
            <a:ext cx="3246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78" name="flt1"/>
          <p:cNvSpPr/>
          <p:nvPr/>
        </p:nvSpPr>
        <p:spPr>
          <a:xfrm>
            <a:off x="4617720" y="118872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64748B"/>
                </a:solidFill>
                <a:latin typeface="Segoe UI"/>
              </a:rPr>
              <a:t>BILLED (invoice identified)</a:t>
            </a:r>
          </a:p>
          <a:p>
            <a:pPr algn="l">
              <a:spcAft>
                <a:spcPts val="200"/>
              </a:spcAft>
            </a:pPr>
            <a:r>
              <a:rPr lang="en-GB" sz="2100" b="1">
                <a:solidFill>
                  <a:srgbClr val="B45309"/>
                </a:solidFill>
                <a:latin typeface="Segoe UI"/>
              </a:rPr>
              <a:t>177h 54m</a:t>
            </a:r>
          </a:p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£2,637.60 invoiced</a:t>
            </a:r>
          </a:p>
        </p:txBody>
      </p:sp>
      <p:sp>
        <p:nvSpPr>
          <p:cNvPr id="282" name="arr1"/>
          <p:cNvSpPr/>
          <p:nvPr/>
        </p:nvSpPr>
        <p:spPr>
          <a:xfrm>
            <a:off x="7845552" y="1600200"/>
            <a:ext cx="5029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86" name="fl2"/>
          <p:cNvSpPr/>
          <p:nvPr/>
        </p:nvSpPr>
        <p:spPr>
          <a:xfrm>
            <a:off x="8549640" y="1051560"/>
            <a:ext cx="3246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90" name="flt2"/>
          <p:cNvSpPr/>
          <p:nvPr/>
        </p:nvSpPr>
        <p:spPr>
          <a:xfrm>
            <a:off x="8686800" y="118872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64748B"/>
                </a:solidFill>
                <a:latin typeface="Segoe UI"/>
              </a:rPr>
              <a:t>PAID</a:t>
            </a:r>
          </a:p>
          <a:p>
            <a:pPr algn="l">
              <a:spcAft>
                <a:spcPts val="200"/>
              </a:spcAft>
            </a:pPr>
            <a:r>
              <a:rPr lang="en-GB" sz="2100" b="1">
                <a:solidFill>
                  <a:srgbClr val="15803D"/>
                </a:solidFill>
                <a:latin typeface="Segoe UI"/>
              </a:rPr>
              <a:t>122h 07m</a:t>
            </a:r>
          </a:p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£1,917.60 received</a:t>
            </a:r>
          </a:p>
        </p:txBody>
      </p:sp>
      <p:sp>
        <p:nvSpPr>
          <p:cNvPr id="298" name="sh"/>
          <p:cNvSpPr/>
          <p:nvPr/>
        </p:nvSpPr>
        <p:spPr>
          <a:xfrm>
            <a:off x="7452360" y="274320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The Recovery Gap</a:t>
            </a:r>
          </a:p>
        </p:txBody>
      </p:sp>
      <p:sp>
        <p:nvSpPr>
          <p:cNvPr id="302" name="gap"/>
          <p:cNvSpPr/>
          <p:nvPr/>
        </p:nvSpPr>
        <p:spPr>
          <a:xfrm>
            <a:off x="7452360" y="3108960"/>
            <a:ext cx="434340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 b="1">
                <a:solidFill>
                  <a:srgbClr val="B91C1C"/>
                </a:solidFill>
                <a:latin typeface="Segoe UI"/>
              </a:rPr>
              <a:t>DELIVERED BUT UNBILLED: 328h 55m (approx £3,289.17) — no invoice identified.</a:t>
            </a:r>
          </a:p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 b="1">
                <a:solidFill>
                  <a:srgbClr val="B45309"/>
                </a:solidFill>
                <a:latin typeface="Segoe UI"/>
              </a:rPr>
              <a:t>INVOICED BUT UNPAID: 55h 47m (approx £557.83) — invoice raised, payment pending.</a:t>
            </a:r>
          </a:p>
          <a:p>
            <a:pPr algn="l" marL="228600" indent="-228600">
              <a:buFont typeface="Arial"/>
              <a:buChar char="•"/>
            </a:pPr>
            <a:r>
              <a:rPr lang="en-GB" sz="1100">
                <a:solidFill>
                  <a:srgbClr val="475569"/>
                </a:solidFill>
                <a:latin typeface="Segoe UI"/>
              </a:rPr>
              <a:t>Awaiting verification: 30h 02m (Nomads Clothing) — excluded from unbilled until confirmed.</a:t>
            </a:r>
          </a:p>
        </p:txBody>
      </p:sp>
      <p:sp>
        <p:nvSpPr>
          <p:cNvPr id="30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0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0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1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FINANCIAL EXPOSURE OF DELIVERED WORK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Unrecovered Development Effort</a:t>
            </a:r>
          </a:p>
        </p:txBody>
      </p:sp>
      <p:sp>
        <p:nvSpPr>
          <p:cNvPr id="314" name="u0"/>
          <p:cNvSpPr/>
          <p:nvPr/>
        </p:nvSpPr>
        <p:spPr>
          <a:xfrm>
            <a:off x="411480" y="1097280"/>
            <a:ext cx="3611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18" name="ut0"/>
          <p:cNvSpPr/>
          <p:nvPr/>
        </p:nvSpPr>
        <p:spPr>
          <a:xfrm>
            <a:off x="594360" y="1280160"/>
            <a:ext cx="32461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050" b="1">
                <a:solidFill>
                  <a:srgbClr val="B45309"/>
                </a:solidFill>
                <a:latin typeface="Segoe UI"/>
              </a:rPr>
              <a:t>UNBILLED DEVELOPMENT EFFORT</a:t>
            </a:r>
          </a:p>
          <a:p>
            <a:pPr algn="l">
              <a:spcAft>
                <a:spcPts val="300"/>
              </a:spcAft>
            </a:pPr>
            <a:r>
              <a:rPr lang="en-GB" sz="3000" b="1">
                <a:solidFill>
                  <a:srgbClr val="B45309"/>
                </a:solidFill>
                <a:latin typeface="Segoe UI"/>
              </a:rPr>
              <a:t>328h 55m</a:t>
            </a:r>
          </a:p>
          <a:p>
            <a:pPr algn="l">
              <a:spcAft>
                <a:spcPts val="300"/>
              </a:spcAft>
            </a:pPr>
            <a:r>
              <a:rPr lang="en-GB" sz="1500" b="1">
                <a:solidFill>
                  <a:srgbClr val="475569"/>
                </a:solidFill>
                <a:latin typeface="Segoe UI"/>
              </a:rPr>
              <a:t>approx £3,289.17</a:t>
            </a:r>
          </a:p>
          <a:p>
            <a:pPr algn="l"/>
            <a:r>
              <a:rPr lang="en-GB" sz="1000">
                <a:solidFill>
                  <a:srgbClr val="64748B"/>
                </a:solidFill>
                <a:latin typeface="Segoe UI"/>
              </a:rPr>
              <a:t>Delivered, no invoice identified</a:t>
            </a:r>
          </a:p>
        </p:txBody>
      </p:sp>
      <p:sp>
        <p:nvSpPr>
          <p:cNvPr id="322" name="u1"/>
          <p:cNvSpPr/>
          <p:nvPr/>
        </p:nvSpPr>
        <p:spPr>
          <a:xfrm>
            <a:off x="4297680" y="1097280"/>
            <a:ext cx="3611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26" name="ut1"/>
          <p:cNvSpPr/>
          <p:nvPr/>
        </p:nvSpPr>
        <p:spPr>
          <a:xfrm>
            <a:off x="4480560" y="1280160"/>
            <a:ext cx="32461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050" b="1">
                <a:solidFill>
                  <a:srgbClr val="B91C1C"/>
                </a:solidFill>
                <a:latin typeface="Segoe UI"/>
              </a:rPr>
              <a:t>INVOICED BUT UNPAID EFFORT</a:t>
            </a:r>
          </a:p>
          <a:p>
            <a:pPr algn="l">
              <a:spcAft>
                <a:spcPts val="300"/>
              </a:spcAft>
            </a:pPr>
            <a:r>
              <a:rPr lang="en-GB" sz="3000" b="1">
                <a:solidFill>
                  <a:srgbClr val="B91C1C"/>
                </a:solidFill>
                <a:latin typeface="Segoe UI"/>
              </a:rPr>
              <a:t>55h 47m</a:t>
            </a:r>
          </a:p>
          <a:p>
            <a:pPr algn="l">
              <a:spcAft>
                <a:spcPts val="300"/>
              </a:spcAft>
            </a:pPr>
            <a:r>
              <a:rPr lang="en-GB" sz="1500" b="1">
                <a:solidFill>
                  <a:srgbClr val="475569"/>
                </a:solidFill>
                <a:latin typeface="Segoe UI"/>
              </a:rPr>
              <a:t>approx £557.83</a:t>
            </a:r>
          </a:p>
          <a:p>
            <a:pPr algn="l"/>
            <a:r>
              <a:rPr lang="en-GB" sz="1000">
                <a:solidFill>
                  <a:srgbClr val="64748B"/>
                </a:solidFill>
                <a:latin typeface="Segoe UI"/>
              </a:rPr>
              <a:t>Invoice raised, payment not received</a:t>
            </a:r>
          </a:p>
        </p:txBody>
      </p:sp>
      <p:sp>
        <p:nvSpPr>
          <p:cNvPr id="330" name="u2"/>
          <p:cNvSpPr/>
          <p:nvPr/>
        </p:nvSpPr>
        <p:spPr>
          <a:xfrm>
            <a:off x="8183880" y="1097280"/>
            <a:ext cx="3611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34" name="ut2"/>
          <p:cNvSpPr/>
          <p:nvPr/>
        </p:nvSpPr>
        <p:spPr>
          <a:xfrm>
            <a:off x="8366760" y="1280160"/>
            <a:ext cx="32461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050" b="1">
                <a:solidFill>
                  <a:srgbClr val="0F172A"/>
                </a:solidFill>
                <a:latin typeface="Segoe UI"/>
              </a:rPr>
              <a:t>TOTAL UNRECOVERED EFFORT</a:t>
            </a:r>
          </a:p>
          <a:p>
            <a:pPr algn="l">
              <a:spcAft>
                <a:spcPts val="300"/>
              </a:spcAft>
            </a:pPr>
            <a:r>
              <a:rPr lang="en-GB" sz="3000" b="1">
                <a:solidFill>
                  <a:srgbClr val="0F172A"/>
                </a:solidFill>
                <a:latin typeface="Segoe UI"/>
              </a:rPr>
              <a:t>384h 42m</a:t>
            </a:r>
          </a:p>
          <a:p>
            <a:pPr algn="l">
              <a:spcAft>
                <a:spcPts val="300"/>
              </a:spcAft>
            </a:pPr>
            <a:r>
              <a:rPr lang="en-GB" sz="1500" b="1">
                <a:solidFill>
                  <a:srgbClr val="475569"/>
                </a:solidFill>
                <a:latin typeface="Segoe UI"/>
              </a:rPr>
              <a:t>approx £3,847.00</a:t>
            </a:r>
          </a:p>
          <a:p>
            <a:pPr algn="l"/>
            <a:r>
              <a:rPr lang="en-GB" sz="1000">
                <a:solidFill>
                  <a:srgbClr val="64748B"/>
                </a:solidFill>
                <a:latin typeface="Segoe UI"/>
              </a:rPr>
              <a:t>at £10/hr configurable rate</a:t>
            </a:r>
          </a:p>
        </p:txBody>
      </p:sp>
      <p:sp>
        <p:nvSpPr>
          <p:cNvPr id="338" name="callout"/>
          <p:cNvSpPr/>
          <p:nvPr/>
        </p:nvSpPr>
        <p:spPr>
          <a:xfrm>
            <a:off x="411480" y="3383280"/>
            <a:ext cx="11384280" cy="123444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39" name="callout-txt"/>
          <p:cNvSpPr/>
          <p:nvPr/>
        </p:nvSpPr>
        <p:spPr>
          <a:xfrm>
            <a:off x="521208" y="3456432"/>
            <a:ext cx="11164824" cy="10881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Development effort worth approx £3,847.00 (384h 42m) has been delivered without financial recovery. The largest component is unbilled work: NWT (144h 17m), Silver Street London (80h 55m) and Nomads Saige (67h 03m) have logged hours with no corresponding invoice. Unbilled effort is NOT an outstanding invoice — it becomes recoverable only once billed.</a:t>
            </a:r>
          </a:p>
        </p:txBody>
      </p:sp>
      <p:sp>
        <p:nvSpPr>
          <p:cNvPr id="342" name="brk"/>
          <p:cNvSpPr/>
          <p:nvPr/>
        </p:nvSpPr>
        <p:spPr>
          <a:xfrm>
            <a:off x="411480" y="4846320"/>
            <a:ext cx="1138428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Invoiced but unpaid sits with CATESBY ENGLAND (£720.00 outstanding of £1,200.00 invoiced, 92h 58m delivered).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Paid development work: Nomads Trade Website (84h 56m, £1,437.60 received in full).</a:t>
            </a:r>
          </a:p>
          <a:p>
            <a:pPr algn="l" marL="228600" indent="-228600">
              <a:buFont typeface="Arial"/>
              <a:buChar char="•"/>
            </a:pPr>
            <a:r>
              <a:rPr lang="en-GB" sz="1100">
                <a:solidFill>
                  <a:srgbClr val="475569"/>
                </a:solidFill>
                <a:latin typeface="Segoe UI"/>
              </a:rPr>
              <a:t>Hourly valuation is a management indicator (configurable rate), not an accounting figure.</a:t>
            </a:r>
          </a:p>
        </p:txBody>
      </p:sp>
      <p:sp>
        <p:nvSpPr>
          <p:cNvPr id="34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4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4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5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WHICH CLIENTS OWE THE MOST?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Client Financial Exposure</a:t>
            </a:r>
          </a:p>
        </p:txBody>
      </p:sp>
      <p:graphicFrame>
        <p:nvGraphicFramePr>
          <p:cNvPr id="358" name="Table 358"/>
          <p:cNvGraphicFramePr>
            <a:graphicFrameLocks noGrp="1"/>
          </p:cNvGraphicFramePr>
          <p:nvPr/>
        </p:nvGraphicFramePr>
        <p:xfrm>
          <a:off x="6720840" y="1005840"/>
          <a:ext cx="6080760" cy="2962656"/>
        </p:xfrm>
        <a:graphic>
          <a:graphicData uri="http://schemas.openxmlformats.org/drawingml/2006/table">
            <a:tbl>
              <a:tblPr firstRow="1" bandRow="1"/>
              <a:tblGrid>
                <a:gridCol w="2011680"/>
                <a:gridCol w="1051560"/>
                <a:gridCol w="1051560"/>
                <a:gridCol w="118872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£17,312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£15,160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£2,152.80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87.6%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£8,721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£7,527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£1,194.00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86.3%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BRIGGS INDUSTRIAL FOOTWEAR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£7,169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£5,972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£1,196.40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 (UK)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£5,847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£4,175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£1,671.60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71.4%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62" name="callout"/>
          <p:cNvSpPr/>
          <p:nvPr/>
        </p:nvSpPr>
        <p:spPr>
          <a:xfrm>
            <a:off x="6720840" y="3977640"/>
            <a:ext cx="5074920" cy="123444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63" name="callout-txt"/>
          <p:cNvSpPr/>
          <p:nvPr/>
        </p:nvSpPr>
        <p:spPr>
          <a:xfrm>
            <a:off x="6830568" y="4050792"/>
            <a:ext cx="4855464" cy="10881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100">
                <a:solidFill>
                  <a:srgbClr val="1E3A8A"/>
                </a:solidFill>
                <a:latin typeface="Segoe UI"/>
              </a:rPr>
              <a:t>Patrick Shoes Limited requires management attention: £2,152.80 outstanding (12.4% of its invoiced value). NOMADS CLOTHING LIMITED follows at £1,671.60.</a:t>
            </a:r>
          </a:p>
        </p:txBody>
      </p:sp>
      <p:sp>
        <p:nvSpPr>
          <p:cNvPr id="36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6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6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WHERE IS THE COMBINED EXPOSURE?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Project-level Financial &amp; Effort Exposure</a:t>
            </a:r>
          </a:p>
        </p:txBody>
      </p:sp>
      <p:graphicFrame>
        <p:nvGraphicFramePr>
          <p:cNvPr id="374" name="Table 374"/>
          <p:cNvGraphicFramePr>
            <a:graphicFrameLocks noGrp="1"/>
          </p:cNvGraphicFramePr>
          <p:nvPr/>
        </p:nvGraphicFramePr>
        <p:xfrm>
          <a:off x="411480" y="1005840"/>
          <a:ext cx="10241280" cy="5074920"/>
        </p:xfrm>
        <a:graphic>
          <a:graphicData uri="http://schemas.openxmlformats.org/drawingml/2006/table">
            <a:tbl>
              <a:tblPr firstRow="1" bandRow="1"/>
              <a:tblGrid>
                <a:gridCol w="1965960"/>
                <a:gridCol w="1737360"/>
                <a:gridCol w="1051560"/>
                <a:gridCol w="1005840"/>
                <a:gridCol w="1005840"/>
                <a:gridCol w="1097280"/>
                <a:gridCol w="1325880"/>
                <a:gridCol w="105156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NWT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144h 17m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£1,442.83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£1,442.83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Silver Street London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80h 55m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£809.17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£809.17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CATESBY ENGLAND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92h 58m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£1,200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£480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£720.00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£720.00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Saige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67h 03m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£670.50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£670.50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AMEN SHOES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25h 09m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£251.50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£251.50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FOOTWEAR DEPOT - 1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11h 31m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£115.17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£115.17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30h 02m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78" name="callout"/>
          <p:cNvSpPr/>
          <p:nvPr/>
        </p:nvSpPr>
        <p:spPr>
          <a:xfrm>
            <a:off x="411480" y="4206240"/>
            <a:ext cx="11384280" cy="109728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79" name="callout-txt"/>
          <p:cNvSpPr/>
          <p:nvPr/>
        </p:nvSpPr>
        <p:spPr>
          <a:xfrm>
            <a:off x="521208" y="4279392"/>
            <a:ext cx="11164824" cy="95097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Highest exposure: NWT (NOMADS) — 144h 17m delivered, approx £1,442.83 of unbilled effort, no invoice identified. CATESBY ENGLAND combines 92h 58m delivered with £720.00 unpaid invoiced value.</a:t>
            </a:r>
          </a:p>
        </p:txBody>
      </p:sp>
      <p:sp>
        <p:nvSpPr>
          <p:cNvPr id="382" name="note11"/>
          <p:cNvSpPr/>
          <p:nvPr/>
        </p:nvSpPr>
        <p:spPr>
          <a:xfrm>
            <a:off x="411480" y="5486400"/>
            <a:ext cx="11384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Unbilled effort value = actual hours x £10/hr (management indicator). Exposure = outstanding invoices + unbilled effort value. Projects with ambiguous invoice linkage (Nomads Clothing, 30h 02m) are excluded from exposure pending verification.</a:t>
            </a:r>
          </a:p>
        </p:txBody>
      </p:sp>
      <p:sp>
        <p:nvSpPr>
          <p:cNvPr id="38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8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8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9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OLD IS THE UNPAID MONEY?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Outstanding Payment &amp; Ageing Analysis</a:t>
            </a:r>
          </a:p>
        </p:txBody>
      </p:sp>
      <p:sp>
        <p:nvSpPr>
          <p:cNvPr id="398" name="sh"/>
          <p:cNvSpPr/>
          <p:nvPr/>
        </p:nvSpPr>
        <p:spPr>
          <a:xfrm>
            <a:off x="6995160" y="100584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5 Oldest Outstanding Invoices</a:t>
            </a:r>
          </a:p>
        </p:txBody>
      </p:sp>
      <p:graphicFrame>
        <p:nvGraphicFramePr>
          <p:cNvPr id="402" name="Table 402"/>
          <p:cNvGraphicFramePr>
            <a:graphicFrameLocks noGrp="1"/>
          </p:cNvGraphicFramePr>
          <p:nvPr/>
        </p:nvGraphicFramePr>
        <p:xfrm>
          <a:off x="6995160" y="1371600"/>
          <a:ext cx="4800600" cy="2962656"/>
        </p:xfrm>
        <a:graphic>
          <a:graphicData uri="http://schemas.openxmlformats.org/drawingml/2006/table">
            <a:tbl>
              <a:tblPr firstRow="1" bandRow="1"/>
              <a:tblGrid>
                <a:gridCol w="1691640"/>
                <a:gridCol w="1097280"/>
                <a:gridCol w="1143000"/>
                <a:gridCol w="8686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2026-02-01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194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2026-03-01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2026-04-01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135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2026-04-01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2026-05-01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06" name="callout"/>
          <p:cNvSpPr/>
          <p:nvPr/>
        </p:nvSpPr>
        <p:spPr>
          <a:xfrm>
            <a:off x="6995160" y="3703320"/>
            <a:ext cx="4800600" cy="146304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07" name="callout-txt"/>
          <p:cNvSpPr/>
          <p:nvPr/>
        </p:nvSpPr>
        <p:spPr>
          <a:xfrm>
            <a:off x="7104888" y="3776472"/>
            <a:ext cx="4581144" cy="13167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100">
                <a:solidFill>
                  <a:srgbClr val="1E3A8A"/>
                </a:solidFill>
                <a:latin typeface="Segoe UI"/>
              </a:rPr>
              <a:t>£6,214.80 outstanding across 21 invoices; 42.3% is 61+ days past due. Oldest: SUPERHOUSE (UK) invoice of £238.80, 194 days past due.</a:t>
            </a:r>
          </a:p>
        </p:txBody>
      </p:sp>
      <p:sp>
        <p:nvSpPr>
          <p:cNvPr id="410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11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412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15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WHERE DID EFFORT EXCEED THE ESTIMATE?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Development Effort Variance</a:t>
            </a:r>
          </a:p>
        </p:txBody>
      </p:sp>
      <p:sp>
        <p:nvSpPr>
          <p:cNvPr id="422" name="sh"/>
          <p:cNvSpPr/>
          <p:nvPr/>
        </p:nvSpPr>
        <p:spPr>
          <a:xfrm>
            <a:off x="7818120" y="10058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Interpretation</a:t>
            </a:r>
          </a:p>
        </p:txBody>
      </p:sp>
      <p:sp>
        <p:nvSpPr>
          <p:cNvPr id="426" name="vi"/>
          <p:cNvSpPr/>
          <p:nvPr/>
        </p:nvSpPr>
        <p:spPr>
          <a:xfrm>
            <a:off x="7818120" y="1371600"/>
            <a:ext cx="3977640" cy="3931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6 of 8 projects exceeded their estimates; total overrun +169h 01m (+45.9%).</a:t>
            </a:r>
          </a:p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Worst overruns: Nomads Clothing +275% (30h 02m vs 8h 00m), AMEN SHOES +151%, CATESBY ENGLAND +132%.</a:t>
            </a:r>
          </a:p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Only FOOTWEAR DEPOT - 1 (-71%) and Silver Street London (-10%) are under estimate.</a:t>
            </a:r>
          </a:p>
          <a:p>
            <a:pPr algn="l" marL="228600" indent="-228600">
              <a:buFont typeface="Arial"/>
              <a:buChar char="•"/>
            </a:pPr>
            <a:r>
              <a:rPr lang="en-GB" sz="1150" b="1">
                <a:solidFill>
                  <a:srgbClr val="B91C1C"/>
                </a:solidFill>
                <a:latin typeface="Segoe UI"/>
              </a:rPr>
              <a:t>Overruns amplify the unbilled-exposure issue: more hours delivered than scoped, without matching invoices.</a:t>
            </a:r>
          </a:p>
        </p:txBody>
      </p:sp>
      <p:sp>
        <p:nvSpPr>
          <p:cNvPr id="430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31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432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35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DERIVED FROM THE DATA, WITH FIGURES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Key Risks &amp; Management Attention</a:t>
            </a:r>
          </a:p>
        </p:txBody>
      </p:sp>
      <p:sp>
        <p:nvSpPr>
          <p:cNvPr id="438" name="r0"/>
          <p:cNvSpPr/>
          <p:nvPr/>
        </p:nvSpPr>
        <p:spPr>
          <a:xfrm>
            <a:off x="411480" y="1005840"/>
            <a:ext cx="5504688" cy="1261872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42" name="rt0"/>
          <p:cNvSpPr/>
          <p:nvPr/>
        </p:nvSpPr>
        <p:spPr>
          <a:xfrm>
            <a:off x="548640" y="1078992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B91C1C"/>
                </a:solidFill>
                <a:latin typeface="Segoe UI"/>
              </a:rPr>
              <a:t>PAYMENT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BRIGGS INDUSTRIAL FOOTWEAR LIMITED holds the largest outstanding balance: Â£1,196.40.</a:t>
            </a:r>
          </a:p>
        </p:txBody>
      </p:sp>
      <p:sp>
        <p:nvSpPr>
          <p:cNvPr id="446" name="r1"/>
          <p:cNvSpPr/>
          <p:nvPr/>
        </p:nvSpPr>
        <p:spPr>
          <a:xfrm>
            <a:off x="6190488" y="1005840"/>
            <a:ext cx="5504688" cy="1261872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50" name="rt1"/>
          <p:cNvSpPr/>
          <p:nvPr/>
        </p:nvSpPr>
        <p:spPr>
          <a:xfrm>
            <a:off x="6327648" y="1078992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B91C1C"/>
                </a:solidFill>
                <a:latin typeface="Segoe UI"/>
              </a:rPr>
              <a:t>PAYMENT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20 invoices worth Â£5,496.00 are past due; oldest is 194 days overdue (SUPERHOUSE (UK) LIMITED, Â£238.80).</a:t>
            </a:r>
          </a:p>
        </p:txBody>
      </p:sp>
      <p:sp>
        <p:nvSpPr>
          <p:cNvPr id="454" name="r2"/>
          <p:cNvSpPr/>
          <p:nvPr/>
        </p:nvSpPr>
        <p:spPr>
          <a:xfrm>
            <a:off x="411480" y="2395728"/>
            <a:ext cx="5504688" cy="1261872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58" name="rt2"/>
          <p:cNvSpPr/>
          <p:nvPr/>
        </p:nvSpPr>
        <p:spPr>
          <a:xfrm>
            <a:off x="548640" y="2468880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4F46E5"/>
                </a:solidFill>
                <a:latin typeface="Segoe UI"/>
              </a:rPr>
              <a:t>DELIVERY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6 of 8 development projects exceed estimates; worst overruns: Nomads Clothing +275.4%, AMEN SHOES +150.9%, CATESBY ENGLAND +132.4%.</a:t>
            </a:r>
          </a:p>
        </p:txBody>
      </p:sp>
      <p:sp>
        <p:nvSpPr>
          <p:cNvPr id="462" name="r3"/>
          <p:cNvSpPr/>
          <p:nvPr/>
        </p:nvSpPr>
        <p:spPr>
          <a:xfrm>
            <a:off x="6190488" y="2395728"/>
            <a:ext cx="5504688" cy="1261872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66" name="rt3"/>
          <p:cNvSpPr/>
          <p:nvPr/>
        </p:nvSpPr>
        <p:spPr>
          <a:xfrm>
            <a:off x="6327648" y="2468880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B45309"/>
                </a:solidFill>
                <a:latin typeface="Segoe UI"/>
              </a:rPr>
              <a:t>REVENUE RECOVERY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CATESBY ENGLAND: 92h 58m delivered, Â£1,200.00 invoiced, only Â£480.00 received â€” Â£720.00 outstanding.</a:t>
            </a:r>
          </a:p>
        </p:txBody>
      </p:sp>
      <p:sp>
        <p:nvSpPr>
          <p:cNvPr id="470" name="r4"/>
          <p:cNvSpPr/>
          <p:nvPr/>
        </p:nvSpPr>
        <p:spPr>
          <a:xfrm>
            <a:off x="411480" y="3785616"/>
            <a:ext cx="5504688" cy="1261872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74" name="rt4"/>
          <p:cNvSpPr/>
          <p:nvPr/>
        </p:nvSpPr>
        <p:spPr>
          <a:xfrm>
            <a:off x="548640" y="3858768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B45309"/>
                </a:solidFill>
                <a:latin typeface="Segoe UI"/>
              </a:rPr>
              <a:t>BILLING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328h 55m delivered with no invoice identified (NWT 144h 17m, Silver Street London 80h 55m, Nomads Saige 67h 03m).</a:t>
            </a:r>
          </a:p>
        </p:txBody>
      </p:sp>
      <p:sp>
        <p:nvSpPr>
          <p:cNvPr id="478" name="r5"/>
          <p:cNvSpPr/>
          <p:nvPr/>
        </p:nvSpPr>
        <p:spPr>
          <a:xfrm>
            <a:off x="6190488" y="3785616"/>
            <a:ext cx="5504688" cy="1261872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82" name="rt5"/>
          <p:cNvSpPr/>
          <p:nvPr/>
        </p:nvSpPr>
        <p:spPr>
          <a:xfrm>
            <a:off x="6327648" y="3858768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0D9488"/>
                </a:solidFill>
                <a:latin typeface="Segoe UI"/>
              </a:rPr>
              <a:t>PROJECT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Nomads Clothing is marked Complete but its invoice linkage needs verification (30h 02m delivered).</a:t>
            </a:r>
          </a:p>
        </p:txBody>
      </p:sp>
      <p:sp>
        <p:nvSpPr>
          <p:cNvPr id="486" name="r6"/>
          <p:cNvSpPr/>
          <p:nvPr/>
        </p:nvSpPr>
        <p:spPr>
          <a:xfrm>
            <a:off x="411480" y="5175504"/>
            <a:ext cx="11375136" cy="1261872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64748B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90" name="rt6"/>
          <p:cNvSpPr/>
          <p:nvPr/>
        </p:nvSpPr>
        <p:spPr>
          <a:xfrm>
            <a:off x="548640" y="5248656"/>
            <a:ext cx="11100816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64748B"/>
                </a:solidFill>
                <a:latin typeface="Segoe UI"/>
              </a:rPr>
              <a:t>DATA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Invoice 510492000001279049 is marked Overdue yet has a payment date; PM logged-time total differs by 2m from project rows; 5 PM projects have no invoice match.</a:t>
            </a:r>
          </a:p>
        </p:txBody>
      </p:sp>
      <p:sp>
        <p:nvSpPr>
          <p:cNvPr id="49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9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49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9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WHAT SHOULD MANAGEMENT DO?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Recommended Management Actions</a:t>
            </a:r>
          </a:p>
        </p:txBody>
      </p:sp>
      <p:sp>
        <p:nvSpPr>
          <p:cNvPr id="502" name="recs"/>
          <p:cNvSpPr/>
          <p:nvPr/>
        </p:nvSpPr>
        <p:spPr>
          <a:xfrm>
            <a:off x="411480" y="1051560"/>
            <a:ext cx="11375136" cy="3977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1.  Chase the Â£5,496.00 past-due portfolio immediately â€” start with BRIGGS INDUSTRIAL FOOTWEAR LIMITED (Â£1,196.40) and the oldest SUPERHOUSE (UK) invoice (194 days overdue).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2.  Resolve the unbilled development effort (328h 55m, approx Â£3,289.17): confirm scope and raise invoices for NWT, Silver Street London, Nomads Saige, AMEN SHOES and FOOTWEAR DEPOT - 1, or formally write the effort off.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3.  Verify the Nomads Clothing project against the May 2026 Nomads web-development invoice to close the matching gap.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4.  Investigate effort overruns (up to +275%) and re-baseline estimates; introduce estimate-approval checkpoints before work continues.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5.  Set billing checkpoints on in-progress development projects so delivered hours are invoiced monthly.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6.  Fix data quality: reconcile invoice 510492000001279049 (Overdue with a payment date) and confirm the 'Monthly - Catesby England' billing entity under Patrick Shoes Limited.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7.  Monitor the 2026 cohort outstanding (Â£6,214.80) monthly until collected.</a:t>
            </a:r>
          </a:p>
        </p:txBody>
      </p:sp>
      <p:sp>
        <p:nvSpPr>
          <p:cNvPr id="506" name="callout"/>
          <p:cNvSpPr/>
          <p:nvPr/>
        </p:nvSpPr>
        <p:spPr>
          <a:xfrm>
            <a:off x="411480" y="5257800"/>
            <a:ext cx="1138428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0F172A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07" name="callout-txt"/>
          <p:cNvSpPr/>
          <p:nvPr/>
        </p:nvSpPr>
        <p:spPr>
          <a:xfrm>
            <a:off x="521208" y="5330952"/>
            <a:ext cx="11164824" cy="90525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MANAGEMENT FOCUS: £32,834.40 of £39,049.20 invoiced has been collected (84.1%). The immediate priorities are recovering £6,214.80 of 2026 receivables and converting approx £3,289.17 of delivered-but-unbilled development effort into invoices — together worth roughly £9,504 of at-risk value.</a:t>
            </a:r>
          </a:p>
        </p:txBody>
      </p:sp>
      <p:sp>
        <p:nvSpPr>
          <p:cNvPr id="510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11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512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15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DEVELOPMENT PROJECTS (PM LAYER)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Appendix A — Detailed Project Analysis</a:t>
            </a:r>
          </a:p>
        </p:txBody>
      </p:sp>
      <p:graphicFrame>
        <p:nvGraphicFramePr>
          <p:cNvPr id="518" name="Table 518"/>
          <p:cNvGraphicFramePr>
            <a:graphicFrameLocks noGrp="1"/>
          </p:cNvGraphicFramePr>
          <p:nvPr/>
        </p:nvGraphicFramePr>
        <p:xfrm>
          <a:off x="411480" y="1051560"/>
          <a:ext cx="11475720" cy="5559552"/>
        </p:xfrm>
        <a:graphic>
          <a:graphicData uri="http://schemas.openxmlformats.org/drawingml/2006/table">
            <a:tbl>
              <a:tblPr firstRow="1" bandRow="1"/>
              <a:tblGrid>
                <a:gridCol w="1920240"/>
                <a:gridCol w="2514600"/>
                <a:gridCol w="1234440"/>
                <a:gridCol w="1143000"/>
                <a:gridCol w="1143000"/>
                <a:gridCol w="1188720"/>
                <a:gridCol w="114300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AMEN SHOES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Not Started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10h 00m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25h 09m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CATESBY ENGLAND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40h 00m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92h 58m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£1,200.00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£480.00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£720.00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FOOTWEAR DEPOT - 1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40h 00m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11h 31m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8h 00m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30h 02m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Saige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32h 00m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67h 03m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Trade Website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67h 50m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84h 56m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£1,437.60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£1,437.60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NWT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80h 00m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144h 17m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Silver Street London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 (UK)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90h 00m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80h 55m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2" name="noteA"/>
          <p:cNvSpPr/>
          <p:nvPr/>
        </p:nvSpPr>
        <p:spPr>
          <a:xfrm>
            <a:off x="411480" y="4937760"/>
            <a:ext cx="113842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Payment scenario per project: Paid = Nomads Trade Website; Partially Paid = CATESBY ENGLAND; Needs Verification = Nomads Clothing; Unbilled = AMEN SHOES, FOOTWEAR DEPOT - 1, Nomads Saige, NWT, Silver Street London. Effort figures from WorkGrid; financial figures from the invoice layer (linked by client + project name where reliable).</a:t>
            </a:r>
          </a:p>
        </p:txBody>
      </p:sp>
      <p:sp>
        <p:nvSpPr>
          <p:cNvPr id="52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2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52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3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ALL UNPAID INVOICES, OLDEST FIRST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Appendix B — Outstanding Invoices</a:t>
            </a:r>
          </a:p>
        </p:txBody>
      </p:sp>
      <p:graphicFrame>
        <p:nvGraphicFramePr>
          <p:cNvPr id="534" name="Table 534"/>
          <p:cNvGraphicFramePr>
            <a:graphicFrameLocks noGrp="1"/>
          </p:cNvGraphicFramePr>
          <p:nvPr/>
        </p:nvGraphicFramePr>
        <p:xfrm>
          <a:off x="411480" y="1005840"/>
          <a:ext cx="9921240" cy="5207508"/>
        </p:xfrm>
        <a:graphic>
          <a:graphicData uri="http://schemas.openxmlformats.org/drawingml/2006/table">
            <a:tbl>
              <a:tblPr firstRow="1" bandRow="1"/>
              <a:tblGrid>
                <a:gridCol w="2148840"/>
                <a:gridCol w="2286000"/>
                <a:gridCol w="1051560"/>
                <a:gridCol w="1051560"/>
                <a:gridCol w="914400"/>
                <a:gridCol w="1234440"/>
                <a:gridCol w="1234440"/>
              </a:tblGrid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510492000001001139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2026-02-01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510492000001093139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2026-03-01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510492000001180143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2026-04-01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NOMADS CLOTHING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510492000001180071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2026-04-01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135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510492000001231066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2026-05-01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NOMADS CLOTHING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510492000001231033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2026-05-01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510492000001279066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2026-06-01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Patrick Shoes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510492000001279338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2026-06-01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£240.00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£240.00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NOMADS CLOTHING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510492000001279033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2026-06-01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Patrick Shoes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510492000001279049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2026-06-01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£477.60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£477.60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38" name="noteB"/>
          <p:cNvSpPr/>
          <p:nvPr/>
        </p:nvSpPr>
        <p:spPr>
          <a:xfrm>
            <a:off x="411480" y="4709160"/>
            <a:ext cx="113842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Outstanding = invoice total minus amount paid, per invoice. One invoice (510492000001279049, Patrick Shoes) is marked Overdue but has a payment date recorded — flagged for review in Data Quality.</a:t>
            </a:r>
          </a:p>
        </p:txBody>
      </p:sp>
      <p:sp>
        <p:nvSpPr>
          <p:cNvPr id="542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43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544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47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AUDITABILITY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Appendix C — Data Quality &amp; Reconciliation</a:t>
            </a:r>
          </a:p>
        </p:txBody>
      </p:sp>
      <p:sp>
        <p:nvSpPr>
          <p:cNvPr id="550" name="dq"/>
          <p:cNvSpPr/>
          <p:nvPr/>
        </p:nvSpPr>
        <p:spPr>
          <a:xfrm>
            <a:off x="411480" y="1005840"/>
            <a:ext cx="11375136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100" b="1">
                <a:solidFill>
                  <a:srgbClr val="0F172A"/>
                </a:solidFill>
                <a:latin typeface="Segoe UI"/>
              </a:rPr>
              <a:t>Matching &amp; data issues (from the dashboard Data Quality report):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5 PM projects have no invoice match (reported as Unbilled, not as outstanding invoices); Nomads Clothing is Needs Verification.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Invoice 510492000001279049 is marked Overdue yet has a Last Payment Date — contradictory record.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147 Excel rows = 125 unique invoices (22 extra rows are line items of multi-line invoices; header amounts counted once).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PM reported Total Logged Time (536h 53m) differs from the sum of project rows (536h 51m) by 2 minutes — source rounding.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No amount-paid column exists in the source; payment is inferred from invoice status. Partial payments are not detectable.</a:t>
            </a:r>
          </a:p>
        </p:txBody>
      </p:sp>
      <p:sp>
        <p:nvSpPr>
          <p:cNvPr id="554" name="sh"/>
          <p:cNvSpPr/>
          <p:nvPr/>
        </p:nvSpPr>
        <p:spPr>
          <a:xfrm>
            <a:off x="411480" y="338328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Reconciliation — Dashboard vs Presentation</a:t>
            </a:r>
          </a:p>
        </p:txBody>
      </p:sp>
      <p:graphicFrame>
        <p:nvGraphicFramePr>
          <p:cNvPr id="558" name="Table 558"/>
          <p:cNvGraphicFramePr>
            <a:graphicFrameLocks noGrp="1"/>
          </p:cNvGraphicFramePr>
          <p:nvPr/>
        </p:nvGraphicFramePr>
        <p:xfrm>
          <a:off x="411480" y="3703320"/>
          <a:ext cx="9966960" cy="2194560"/>
        </p:xfrm>
        <a:graphic>
          <a:graphicData uri="http://schemas.openxmlformats.org/drawingml/2006/table">
            <a:tbl>
              <a:tblPr firstRow="1" bandRow="1"/>
              <a:tblGrid>
                <a:gridCol w="3017520"/>
                <a:gridCol w="2743200"/>
                <a:gridCol w="27432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HTML Dashboard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This Presentation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Diff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Projects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Invoices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125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125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Invoiced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£39,049.20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£39,049.20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Paid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£32,834.40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£32,834.40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Outstanding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£6,214.80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£6,214.80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Development Hours (actual)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536h 51m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536h 51m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Unbilled Effort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328h 55m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328h 55m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2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63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564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18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