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_data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2_data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3_data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4_data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5_data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6_data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7_data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8_data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9_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Invoiced vs Collected vs Outstanding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GBP</c:v>
                </c:pt>
              </c:strCache>
            </c:strRef>
          </c:tx>
          <c:spPr>
            <a:solidFill>
              <a:srgbClr val="1E40AF"/>
            </a:solidFill>
          </c:spPr>
          <c:dPt>
            <c:idx val="0"/>
            <c:bubble3D val="0"/>
            <c:spPr>
              <a:solidFill>
                <a:srgbClr val="1E40AF"/>
              </a:solidFill>
            </c:spPr>
          </c:dPt>
          <c:dPt>
            <c:idx val="1"/>
            <c:bubble3D val="0"/>
            <c:spPr>
              <a:solidFill>
                <a:srgbClr val="15803D"/>
              </a:solidFill>
            </c:spPr>
          </c:dPt>
          <c:dPt>
            <c:idx val="2"/>
            <c:bubble3D val="0"/>
            <c:spPr>
              <a:solidFill>
                <a:srgbClr val="B91C1C"/>
              </a:solidFill>
            </c:spPr>
          </c:dPt>
          <c:dLbls>
            <c:numFmt formatCode="£#,##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Invoiced (gross)</c:v>
                </c:pt>
                <c:pt idx="1">
                  <c:v>Collected</c:v>
                </c:pt>
                <c:pt idx="2">
                  <c:v>Outstanding</c:v>
                </c:pt>
              </c:strCache>
            </c:strRef>
          </c:cat>
          <c:val>
            <c:numRef>
              <c:f>Sheet1!$B$2:$B$4</c:f>
              <c:numCache>
                <c:formatCode>£#,##0</c:formatCode>
                <c:ptCount val="3"/>
                <c:pt idx="0">
                  <c:v>39049.2</c:v>
                </c:pt>
                <c:pt idx="1">
                  <c:v>32834.4</c:v>
                </c:pt>
                <c:pt idx="2">
                  <c:v>6214.8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Invoiced vs Collected vs Outstanding by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1E40AF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£#,##0</c:formatCode>
                <c:ptCount val="4"/>
                <c:pt idx="0">
                  <c:v>474</c:v>
                </c:pt>
                <c:pt idx="1">
                  <c:v>11338.8</c:v>
                </c:pt>
                <c:pt idx="2">
                  <c:v>14566.8</c:v>
                </c:pt>
                <c:pt idx="3">
                  <c:v>12669.6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£#,##0</c:formatCode>
                <c:ptCount val="4"/>
                <c:pt idx="0">
                  <c:v>474</c:v>
                </c:pt>
                <c:pt idx="1">
                  <c:v>11338.8</c:v>
                </c:pt>
                <c:pt idx="2">
                  <c:v>14566.8</c:v>
                </c:pt>
                <c:pt idx="3">
                  <c:v>6454.8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£#,##0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6214.8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New Projects &amp; New Clients per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Projects</c:v>
                </c:pt>
              </c:strCache>
            </c:strRef>
          </c:tx>
          <c:spPr>
            <a:solidFill>
              <a:srgbClr val="B45309"/>
            </a:solidFill>
          </c:spPr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Clients</c:v>
                </c:pt>
              </c:strCache>
            </c:strRef>
          </c:tx>
          <c:spPr>
            <a:solidFill>
              <a:srgbClr val="0D9488"/>
            </a:solidFill>
          </c:spPr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Service Line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1E40AF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Sheet1!$B$2:$B$3</c:f>
              <c:numCache>
                <c:formatCode>£#,##0</c:formatCode>
                <c:ptCount val="2"/>
                <c:pt idx="0">
                  <c:v>33678</c:v>
                </c:pt>
                <c:pt idx="1">
                  <c:v>5371.2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Sheet1!$C$2:$C$3</c:f>
              <c:numCache>
                <c:formatCode>£#,##0</c:formatCode>
                <c:ptCount val="2"/>
                <c:pt idx="0">
                  <c:v>28182</c:v>
                </c:pt>
                <c:pt idx="1">
                  <c:v>4652.4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Sheet1!$D$2:$D$3</c:f>
              <c:numCache>
                <c:formatCode>£#,##0</c:formatCode>
                <c:ptCount val="2"/>
                <c:pt idx="0">
                  <c:v>5496</c:v>
                </c:pt>
                <c:pt idx="1">
                  <c:v>718.8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Estimated vs Workload vs Actual (hours)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64748B"/>
            </a:solidFill>
          </c:spPr>
          <c:dPt>
            <c:idx val="0"/>
            <c:bubble3D val="0"/>
            <c:spPr>
              <a:solidFill>
                <a:srgbClr val="64748B"/>
              </a:solidFill>
            </c:spPr>
          </c:dPt>
          <c:dPt>
            <c:idx val="1"/>
            <c:bubble3D val="0"/>
            <c:spPr>
              <a:solidFill>
                <a:srgbClr val="B45309"/>
              </a:solidFill>
            </c:spPr>
          </c:dPt>
          <c:dPt>
            <c:idx val="2"/>
            <c:bubble3D val="0"/>
            <c:spPr>
              <a:solidFill>
                <a:srgbClr val="4F46E5"/>
              </a:solidFill>
            </c:spPr>
          </c:dPt>
          <c:dLbls>
            <c:numFmt formatCode="0.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Estimated</c:v>
                </c:pt>
                <c:pt idx="1">
                  <c:v>Planned Workload</c:v>
                </c:pt>
                <c:pt idx="2">
                  <c:v>Actual Logged</c:v>
                </c:pt>
              </c:strCache>
            </c:strRef>
          </c:cat>
          <c:val>
            <c:numRef>
              <c:f>Sheet1!$B$2:$B$4</c:f>
              <c:numCache>
                <c:formatCode>0.0"h"</c:formatCode>
                <c:ptCount val="3"/>
                <c:pt idx="0">
                  <c:v>367.833333333333</c:v>
                </c:pt>
                <c:pt idx="1">
                  <c:v>402.616666666667</c:v>
                </c:pt>
                <c:pt idx="2">
                  <c:v>536.85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.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Development Hours: Delivered - Billed - Paid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4F46E5"/>
            </a:solidFill>
          </c:spPr>
          <c:dPt>
            <c:idx val="0"/>
            <c:bubble3D val="0"/>
            <c:spPr>
              <a:solidFill>
                <a:srgbClr val="4F46E5"/>
              </a:solidFill>
            </c:spPr>
          </c:dPt>
          <c:dPt>
            <c:idx val="1"/>
            <c:bubble3D val="0"/>
            <c:spPr>
              <a:solidFill>
                <a:srgbClr val="B45309"/>
              </a:solidFill>
            </c:spPr>
          </c:dPt>
          <c:dPt>
            <c:idx val="2"/>
            <c:bubble3D val="0"/>
            <c:spPr>
              <a:solidFill>
                <a:srgbClr val="15803D"/>
              </a:solidFill>
            </c:spPr>
          </c:dPt>
          <c:dLbls>
            <c:numFmt formatCode="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Billed</c:v>
                </c:pt>
                <c:pt idx="2">
                  <c:v>Paid</c:v>
                </c:pt>
              </c:strCache>
            </c:strRef>
          </c:cat>
          <c:val>
            <c:numRef>
              <c:f>Sheet1!$B$2:$B$4</c:f>
              <c:numCache>
                <c:formatCode>0"h"</c:formatCode>
                <c:ptCount val="3"/>
                <c:pt idx="0">
                  <c:v>536.85</c:v>
                </c:pt>
                <c:pt idx="1">
                  <c:v>177.9</c:v>
                </c:pt>
                <c:pt idx="2">
                  <c:v>122.116666666667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Client Paid vs Outstanding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Sheet1!$A$2:$A$5</c:f>
              <c:strCache>
                <c:ptCount val="4"/>
                <c:pt idx="0">
                  <c:v>NOMADS CLOTHING</c:v>
                </c:pt>
                <c:pt idx="1">
                  <c:v>BRIGGS INDUSTRIAL FOOTWEAR</c:v>
                </c:pt>
                <c:pt idx="2">
                  <c:v>SUPERHOUSE</c:v>
                </c:pt>
                <c:pt idx="3">
                  <c:v>Patrick Shoes</c:v>
                </c:pt>
              </c:strCache>
            </c:strRef>
          </c:cat>
          <c:val>
            <c:numRef>
              <c:f>Sheet1!$B$2:$B$5</c:f>
              <c:numCache>
                <c:formatCode>£#,##0</c:formatCode>
                <c:ptCount val="4"/>
                <c:pt idx="0">
                  <c:v>1194</c:v>
                </c:pt>
                <c:pt idx="1">
                  <c:v>1196.4</c:v>
                </c:pt>
                <c:pt idx="2">
                  <c:v>1671.6</c:v>
                </c:pt>
                <c:pt idx="3">
                  <c:v>2152.8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Sheet1!$A$2:$A$5</c:f>
              <c:strCache>
                <c:ptCount val="4"/>
                <c:pt idx="0">
                  <c:v>NOMADS CLOTHING</c:v>
                </c:pt>
                <c:pt idx="1">
                  <c:v>BRIGGS INDUSTRIAL FOOTWEAR</c:v>
                </c:pt>
                <c:pt idx="2">
                  <c:v>SUPERHOUSE</c:v>
                </c:pt>
                <c:pt idx="3">
                  <c:v>Patrick Shoes</c:v>
                </c:pt>
              </c:strCache>
            </c:strRef>
          </c:cat>
          <c:val>
            <c:numRef>
              <c:f>Sheet1!$C$2:$C$5</c:f>
              <c:numCache>
                <c:formatCode>£#,##0</c:formatCode>
                <c:ptCount val="4"/>
                <c:pt idx="0">
                  <c:v>7527</c:v>
                </c:pt>
                <c:pt idx="1">
                  <c:v>5972.4</c:v>
                </c:pt>
                <c:pt idx="2">
                  <c:v>4175.4</c:v>
                </c:pt>
                <c:pt idx="3">
                  <c:v>15159.6</c:v>
                </c:pt>
              </c:numCache>
            </c:numRef>
          </c:val>
        </c:ser>
        <c:gapWidth val="60"/>
        <c:overlap val="100"/>
        <c:axId val="100000001"/>
        <c:axId val="100000002"/>
      </c:barChart>
      <c:catAx>
        <c:axId val="100000001"/>
        <c:scaling>
          <c:orientation val="minMax"/>
        </c:scaling>
        <c:delete val="0"/>
        <c:axPos val="l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Outstanding by Days Past Due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dPt>
            <c:idx val="0"/>
            <c:bubble3D val="0"/>
            <c:spPr>
              <a:solidFill>
                <a:srgbClr val="64748B"/>
              </a:solidFill>
            </c:spPr>
          </c:dPt>
          <c:dPt>
            <c:idx val="1"/>
            <c:bubble3D val="0"/>
            <c:spPr>
              <a:solidFill>
                <a:srgbClr val="F59E0B"/>
              </a:solidFill>
            </c:spPr>
          </c:dPt>
          <c:dPt>
            <c:idx val="2"/>
            <c:bubble3D val="0"/>
            <c:spPr>
              <a:solidFill>
                <a:srgbClr val="F97316"/>
              </a:solidFill>
            </c:spPr>
          </c:dPt>
          <c:dPt>
            <c:idx val="3"/>
            <c:bubble3D val="0"/>
            <c:spPr>
              <a:solidFill>
                <a:srgbClr val="DC2626"/>
              </a:solidFill>
            </c:spPr>
          </c:dPt>
          <c:dPt>
            <c:idx val="4"/>
            <c:bubble3D val="0"/>
            <c:spPr>
              <a:solidFill>
                <a:srgbClr val="991B1B"/>
              </a:solidFill>
            </c:spPr>
          </c:dPt>
          <c:dPt>
            <c:idx val="5"/>
            <c:bubble3D val="0"/>
            <c:spPr>
              <a:solidFill>
                <a:srgbClr val="7F1D1D"/>
              </a:solidFill>
            </c:spPr>
          </c:dPt>
          <c:dPt>
            <c:idx val="6"/>
            <c:bubble3D val="0"/>
            <c:spPr>
              <a:solidFill>
                <a:srgbClr val="450A0A"/>
              </a:solidFill>
            </c:spPr>
          </c:dPt>
          <c:dLbls>
            <c:numFmt formatCode="£#,##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Not yet due</c:v>
                </c:pt>
                <c:pt idx="1">
                  <c:v>1-30 days</c:v>
                </c:pt>
                <c:pt idx="2">
                  <c:v>31-60 days</c:v>
                </c:pt>
                <c:pt idx="3">
                  <c:v>61-90 days</c:v>
                </c:pt>
                <c:pt idx="4">
                  <c:v>91-180 days</c:v>
                </c:pt>
                <c:pt idx="5">
                  <c:v>181-365 days</c:v>
                </c:pt>
                <c:pt idx="6">
                  <c:v>365+ days</c:v>
                </c:pt>
              </c:strCache>
            </c:strRef>
          </c:cat>
          <c:val>
            <c:numRef>
              <c:f>Sheet1!$B$2:$B$8</c:f>
              <c:numCache>
                <c:formatCode>£#,##0</c:formatCode>
                <c:ptCount val="7"/>
                <c:pt idx="0">
                  <c:v>718.8</c:v>
                </c:pt>
                <c:pt idx="1">
                  <c:v>1434</c:v>
                </c:pt>
                <c:pt idx="2">
                  <c:v>1434</c:v>
                </c:pt>
                <c:pt idx="3">
                  <c:v>1195.2</c:v>
                </c:pt>
                <c:pt idx="4">
                  <c:v>1194</c:v>
                </c:pt>
                <c:pt idx="5">
                  <c:v>238.8</c:v>
                </c:pt>
                <c:pt idx="6">
                  <c:v>0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Actual minus Estimated Hours by Project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(hours)</c:v>
                </c:pt>
              </c:strCache>
            </c:strRef>
          </c:tx>
          <c:spPr>
            <a:solidFill>
              <a:srgbClr val="B91C1C"/>
            </a:solidFill>
          </c:spPr>
          <c:dLbls>
            <c:numFmt formatCode="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FOOTWEAR DEPOT - 1</c:v>
                </c:pt>
                <c:pt idx="1">
                  <c:v>Silver Street London</c:v>
                </c:pt>
                <c:pt idx="2">
                  <c:v>AMEN SHOES</c:v>
                </c:pt>
                <c:pt idx="3">
                  <c:v>Nomads Trade Website</c:v>
                </c:pt>
                <c:pt idx="4">
                  <c:v>Nomads Clothing</c:v>
                </c:pt>
                <c:pt idx="5">
                  <c:v>Nomads Saige</c:v>
                </c:pt>
                <c:pt idx="6">
                  <c:v>CATESBY ENGLAND</c:v>
                </c:pt>
                <c:pt idx="7">
                  <c:v>NWT</c:v>
                </c:pt>
              </c:strCache>
            </c:strRef>
          </c:cat>
          <c:val>
            <c:numRef>
              <c:f>Sheet1!$B$2:$B$9</c:f>
              <c:numCache>
                <c:formatCode>0"h"</c:formatCode>
                <c:ptCount val="8"/>
                <c:pt idx="0">
                  <c:v>-28.5</c:v>
                </c:pt>
                <c:pt idx="1">
                  <c:v>-9.1</c:v>
                </c:pt>
                <c:pt idx="2">
                  <c:v>15.2</c:v>
                </c:pt>
                <c:pt idx="3">
                  <c:v>17.1</c:v>
                </c:pt>
                <c:pt idx="4">
                  <c:v>22</c:v>
                </c:pt>
                <c:pt idx="5">
                  <c:v>35</c:v>
                </c:pt>
                <c:pt idx="6">
                  <c:v>53</c:v>
                </c:pt>
                <c:pt idx="7">
                  <c:v>64.3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l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