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en-GB"/>
    </a:defPPr>
    <a:lvl1pPr marL="0" algn="l" defTabSz="914400" rtl="0">
      <a:defRPr sz="1200">
        <a:latin typeface="Segoe UI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00" Type="http://schemas.openxmlformats.org/officeDocument/2006/relationships/presProps" Target="presProps.xml"/><Relationship Id="rId101" Type="http://schemas.openxmlformats.org/officeDocument/2006/relationships/viewProps" Target="viewProps.xml"/><Relationship Id="rId102" Type="http://schemas.openxmlformats.org/officeDocument/2006/relationships/tableStyles" Target="tableStyles.xml"/><Relationship Id="rId10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400" b="1">
          <a:solidFill>
            <a:srgbClr val="0F172A"/>
          </a:solidFill>
          <a:latin typeface="Segoe UI"/>
        </a:defRPr>
      </a:lvl1pPr>
    </p:titleStyle>
    <p:bodyStyle>
      <a:lvl1pPr algn="l">
        <a:defRPr sz="1200">
          <a:solidFill>
            <a:srgbClr val="0F172A"/>
          </a:solidFill>
          <a:latin typeface="Segoe UI"/>
        </a:defRPr>
      </a:lvl1pPr>
    </p:bodyStyle>
    <p:otherStyle>
      <a:lvl1pPr algn="l">
        <a:defRPr sz="1200">
          <a:solidFill>
            <a:srgbClr val="0F172A"/>
          </a:solidFill>
          <a:latin typeface="Segoe U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OVERALL POSITION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75" name="kpi-card"/>
          <p:cNvSpPr/>
          <p:nvPr/>
        </p:nvSpPr>
        <p:spPr>
          <a:xfrm>
            <a:off x="411480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6" name="kpi-txt"/>
          <p:cNvSpPr/>
          <p:nvPr/>
        </p:nvSpPr>
        <p:spPr>
          <a:xfrm>
            <a:off x="457200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Projects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9 invoice-layer + 8 PM</a:t>
            </a:r>
          </a:p>
        </p:txBody>
      </p:sp>
      <p:sp>
        <p:nvSpPr>
          <p:cNvPr id="79" name="kpi-card"/>
          <p:cNvSpPr/>
          <p:nvPr/>
        </p:nvSpPr>
        <p:spPr>
          <a:xfrm>
            <a:off x="3300984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0" name="kpi-txt"/>
          <p:cNvSpPr/>
          <p:nvPr/>
        </p:nvSpPr>
        <p:spPr>
          <a:xfrm>
            <a:off x="3346704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Clients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4</a:t>
            </a:r>
          </a:p>
        </p:txBody>
      </p:sp>
      <p:sp>
        <p:nvSpPr>
          <p:cNvPr id="83" name="kpi-card"/>
          <p:cNvSpPr/>
          <p:nvPr/>
        </p:nvSpPr>
        <p:spPr>
          <a:xfrm>
            <a:off x="6190488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4" name="kpi-txt"/>
          <p:cNvSpPr/>
          <p:nvPr/>
        </p:nvSpPr>
        <p:spPr>
          <a:xfrm>
            <a:off x="6236208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125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125 unique IDs</a:t>
            </a:r>
          </a:p>
        </p:txBody>
      </p:sp>
      <p:sp>
        <p:nvSpPr>
          <p:cNvPr id="87" name="kpi-card"/>
          <p:cNvSpPr/>
          <p:nvPr/>
        </p:nvSpPr>
        <p:spPr>
          <a:xfrm>
            <a:off x="9079992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8" name="kpi-txt"/>
          <p:cNvSpPr/>
          <p:nvPr/>
        </p:nvSpPr>
        <p:spPr>
          <a:xfrm>
            <a:off x="9125712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£39,049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incl. VAT</a:t>
            </a:r>
          </a:p>
        </p:txBody>
      </p:sp>
      <p:sp>
        <p:nvSpPr>
          <p:cNvPr id="91" name="kpi-card"/>
          <p:cNvSpPr/>
          <p:nvPr/>
        </p:nvSpPr>
        <p:spPr>
          <a:xfrm>
            <a:off x="411480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2" name="kpi-txt"/>
          <p:cNvSpPr/>
          <p:nvPr/>
        </p:nvSpPr>
        <p:spPr>
          <a:xfrm>
            <a:off x="457200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Collected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£32,834</a:t>
            </a:r>
          </a:p>
        </p:txBody>
      </p:sp>
      <p:sp>
        <p:nvSpPr>
          <p:cNvPr id="95" name="kpi-card"/>
          <p:cNvSpPr/>
          <p:nvPr/>
        </p:nvSpPr>
        <p:spPr>
          <a:xfrm>
            <a:off x="3300984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6" name="kpi-txt"/>
          <p:cNvSpPr/>
          <p:nvPr/>
        </p:nvSpPr>
        <p:spPr>
          <a:xfrm>
            <a:off x="3346704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Outstanding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 of invoiced"/>
                </a:solidFill>
                <a:latin typeface="Segoe UI"/>
              </a:rPr>
              <a:t>£6,215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15.9%</a:t>
            </a:r>
          </a:p>
        </p:txBody>
      </p:sp>
      <p:sp>
        <p:nvSpPr>
          <p:cNvPr id="99" name="kpi-card"/>
          <p:cNvSpPr/>
          <p:nvPr/>
        </p:nvSpPr>
        <p:spPr>
          <a:xfrm>
            <a:off x="6190488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0" name="kpi-txt"/>
          <p:cNvSpPr/>
          <p:nvPr/>
        </p:nvSpPr>
        <p:spPr>
          <a:xfrm>
            <a:off x="6236208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Collection Rate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84.1%</a:t>
            </a:r>
          </a:p>
        </p:txBody>
      </p:sp>
      <p:sp>
        <p:nvSpPr>
          <p:cNvPr id="103" name="kpi-card"/>
          <p:cNvSpPr/>
          <p:nvPr/>
        </p:nvSpPr>
        <p:spPr>
          <a:xfrm>
            <a:off x="9079992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4" name="kpi-txt"/>
          <p:cNvSpPr/>
          <p:nvPr/>
        </p:nvSpPr>
        <p:spPr>
          <a:xfrm>
            <a:off x="9125712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Dev Hours Delivered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45.9%"/>
                </a:solidFill>
                <a:latin typeface="Segoe UI"/>
              </a:rPr>
              <a:t>536h 51m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+</a:t>
            </a:r>
          </a:p>
        </p:txBody>
      </p:sp>
      <p:sp>
        <p:nvSpPr>
          <p:cNvPr id="106" name="sh"/>
          <p:cNvSpPr/>
          <p:nvPr/>
        </p:nvSpPr>
        <p:spPr>
          <a:xfrm>
            <a:off x="411480" y="32461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Key Insights</a:t>
            </a:r>
          </a:p>
        </p:txBody>
      </p:sp>
      <p:sp>
        <p:nvSpPr>
          <p:cNvPr id="110" name="ins"/>
          <p:cNvSpPr/>
          <p:nvPr/>
        </p:nvSpPr>
        <p:spPr>
          <a:xfrm>
            <a:off x="411480" y="3566160"/>
            <a:ext cx="11375136" cy="2834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Collection position: Â£32,834.40 of Â£39,049.20 invoiced value collected (84.1%); Â£6,214.80 (15.9%) remains outstanding.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SEO is the largest service line: Â£33,678.00 invoiced (86.2% of total) vs Development Â£5,371.20.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Patrick Shoes Limited is the top client (Â£17,312.40, 44.3% of revenue) and also carries the highest unpaid exposure (Â£1,196.40).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Development delivery is significantly over estimate: 536h 51m logged vs 367h 50m estimated (+45.9%).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328h 55m of development effort (approx Â£3,289.17 at Â£10/hr) has no identified invoice â€” a billing gap.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 invoices totalling Â£5,496.00 are past due; the oldest unpaid invoice is 194 days past its due date (SUPERHOUSE (UK) LIMITED).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2023-2025 cohorts are 100% collected; the entire outstanding balance sits in the 2026 invoice cohort (Â£6,214.80).</a:t>
            </a:r>
          </a:p>
        </p:txBody>
      </p:sp>
      <p:sp>
        <p:nvSpPr>
          <p:cNvPr id="114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15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116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2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gmtTheme">
  <a:themeElements>
    <a:clrScheme name="Mgmt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1E40AF"/>
      </a:accent1>
      <a:accent2>
        <a:srgbClr val="15803D"/>
      </a:accent2>
      <a:accent3>
        <a:srgbClr val="B91C1C"/>
      </a:accent3>
      <a:accent4>
        <a:srgbClr val="0D9488"/>
      </a:accent4>
      <a:accent5>
        <a:srgbClr val="4F46E5"/>
      </a:accent5>
      <a:accent6>
        <a:srgbClr val="B45309"/>
      </a:accent6>
      <a:hlink>
        <a:srgbClr val="1E40AF"/>
      </a:hlink>
      <a:folHlink>
        <a:srgbClr val="64748B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Mg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PresentationFormat>Widescreen</PresentationFormat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Invoice, Project &amp; Development Effort Analysis</dc:title>
  <dc:subject>Management Review 2023 - Present</dc:subject>
  <dc:creator>Business Analysis</dc:creator>
  <cp:lastModifiedBy>Business Analysis</cp:lastModifiedBy>
  <dcterms:created xsi:type="dcterms:W3CDTF">2026-08-19T09:00:00Z</dcterms:created>
  <dcterms:modified xsi:type="dcterms:W3CDTF">2026-08-19T09:00:00Z</dcterms:modified>
</cp:coreProperties>
</file>