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" name="accent"/>
          <p:cNvSpPr/>
          <p:nvPr/>
        </p:nvSpPr>
        <p:spPr>
          <a:xfrm>
            <a:off x="822960" y="1847088"/>
            <a:ext cx="201168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" name="t1"/>
          <p:cNvSpPr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4000" b="1">
                <a:solidFill>
                  <a:srgbClr val="FFFFFF"/>
                </a:solidFill>
                <a:latin typeface="Segoe UI"/>
              </a:rPr>
              <a:t>Invoice, Project &amp; Development Effort Analysis</a:t>
            </a:r>
          </a:p>
        </p:txBody>
      </p:sp>
      <p:sp>
        <p:nvSpPr>
          <p:cNvPr id="26" name="t2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700">
                <a:solidFill>
                  <a:srgbClr val="93C5FD"/>
                </a:solidFill>
                <a:latin typeface="Segoe UI"/>
              </a:rPr>
              <a:t>Management Review  |  Period: 2023 — Present (as of 2026-08-19)</a:t>
            </a:r>
          </a:p>
        </p:txBody>
      </p:sp>
      <p:sp>
        <p:nvSpPr>
          <p:cNvPr id="30" name="t3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200">
                <a:solidFill>
                  <a:srgbClr val="94A3B8"/>
                </a:solidFill>
                <a:latin typeface="Segoe UI"/>
              </a:rPr>
              <a:t>Prepared for Senior Management  |  Source: Invoice Analysis workbook + WorkGrid project dashboard</a:t>
            </a:r>
          </a:p>
        </p:txBody>
      </p:sp>
      <p:sp>
        <p:nvSpPr>
          <p:cNvPr id="34" name="conf"/>
          <p:cNvSpPr/>
          <p:nvPr/>
        </p:nvSpPr>
        <p:spPr>
          <a:xfrm>
            <a:off x="822960" y="4343400"/>
            <a:ext cx="3291840" cy="384048"/>
          </a:xfrm>
          <a:prstGeom prst="roundRect">
            <a:avLst/>
          </a:prstGeom>
          <a:noFill/>
          <a:ln w="12700">
            <a:solidFill>
              <a:srgbClr val="93C5FD"/>
            </a:solidFill>
          </a:ln>
        </p:spPr>
        <p:txBody>
          <a:bodyPr wrap="square" anchor="ctr" lIns="73152" tIns="36576" rIns="73152" bIns="36576"/>
          <a:lstStyle/>
          <a:p>
            <a:pPr algn="ctr"/>
            <a:r>
              <a:rPr lang="en-GB" sz="1050" b="1">
                <a:solidFill>
                  <a:srgbClr val="93C5FD"/>
                </a:solidFill>
                <a:latin typeface="Segoe UI"/>
              </a:rPr>
              <a:t>CONFIDENTIAL — MANAGEMENT USE ONLY</a:t>
            </a:r>
          </a:p>
        </p:txBody>
      </p:sp>
      <p:sp>
        <p:nvSpPr>
          <p:cNvPr id="38" name="mk0"/>
          <p:cNvSpPr/>
          <p:nvPr/>
        </p:nvSpPr>
        <p:spPr>
          <a:xfrm>
            <a:off x="82296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42" name="mkt0"/>
          <p:cNvSpPr/>
          <p:nvPr/>
        </p:nvSpPr>
        <p:spPr>
          <a:xfrm>
            <a:off x="96012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Total Invoiced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£39,049</a:t>
            </a:r>
          </a:p>
        </p:txBody>
      </p:sp>
      <p:sp>
        <p:nvSpPr>
          <p:cNvPr id="46" name="mk1"/>
          <p:cNvSpPr/>
          <p:nvPr/>
        </p:nvSpPr>
        <p:spPr>
          <a:xfrm>
            <a:off x="352044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0" name="mkt1"/>
          <p:cNvSpPr/>
          <p:nvPr/>
        </p:nvSpPr>
        <p:spPr>
          <a:xfrm>
            <a:off x="365760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Collected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£32,834</a:t>
            </a:r>
          </a:p>
        </p:txBody>
      </p:sp>
      <p:sp>
        <p:nvSpPr>
          <p:cNvPr id="54" name="mk2"/>
          <p:cNvSpPr/>
          <p:nvPr/>
        </p:nvSpPr>
        <p:spPr>
          <a:xfrm>
            <a:off x="621792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58" name="mkt2"/>
          <p:cNvSpPr/>
          <p:nvPr/>
        </p:nvSpPr>
        <p:spPr>
          <a:xfrm>
            <a:off x="635508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Outstanding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£6,215</a:t>
            </a:r>
          </a:p>
        </p:txBody>
      </p:sp>
      <p:sp>
        <p:nvSpPr>
          <p:cNvPr id="62" name="mk3"/>
          <p:cNvSpPr/>
          <p:nvPr/>
        </p:nvSpPr>
        <p:spPr>
          <a:xfrm>
            <a:off x="891540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66" name="mkt3"/>
          <p:cNvSpPr/>
          <p:nvPr/>
        </p:nvSpPr>
        <p:spPr>
          <a:xfrm>
            <a:off x="905256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Dev Hours Delivered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536h 51m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IS OUR OVERALL POSITION?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Financial Performance Overview</a:t>
            </a:r>
          </a:p>
        </p:txBody>
      </p:sp>
      <p:sp>
        <p:nvSpPr>
          <p:cNvPr id="122" name="kpi-strip"/>
          <p:cNvSpPr/>
          <p:nvPr/>
        </p:nvSpPr>
        <p:spPr>
          <a:xfrm>
            <a:off x="411480" y="1005840"/>
            <a:ext cx="420624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3" name="kpi-card"/>
          <p:cNvSpPr/>
          <p:nvPr/>
        </p:nvSpPr>
        <p:spPr>
          <a:xfrm>
            <a:off x="411480" y="1005840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4" name="kpi-txt"/>
          <p:cNvSpPr/>
          <p:nvPr/>
        </p:nvSpPr>
        <p:spPr>
          <a:xfrm>
            <a:off x="457200" y="1097280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£39,049.20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net £32,541.00 + VAT £6,508.20</a:t>
            </a:r>
          </a:p>
        </p:txBody>
      </p:sp>
      <p:sp>
        <p:nvSpPr>
          <p:cNvPr id="126" name="kpi-strip"/>
          <p:cNvSpPr/>
          <p:nvPr/>
        </p:nvSpPr>
        <p:spPr>
          <a:xfrm>
            <a:off x="411480" y="2039112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7" name="kpi-card"/>
          <p:cNvSpPr/>
          <p:nvPr/>
        </p:nvSpPr>
        <p:spPr>
          <a:xfrm>
            <a:off x="411480" y="2039112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8" name="kpi-txt"/>
          <p:cNvSpPr/>
          <p:nvPr/>
        </p:nvSpPr>
        <p:spPr>
          <a:xfrm>
            <a:off x="457200" y="2130552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£32,834.40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104 paid invoices</a:t>
            </a:r>
          </a:p>
        </p:txBody>
      </p:sp>
      <p:sp>
        <p:nvSpPr>
          <p:cNvPr id="130" name="kpi-strip"/>
          <p:cNvSpPr/>
          <p:nvPr/>
        </p:nvSpPr>
        <p:spPr>
          <a:xfrm>
            <a:off x="411480" y="3072384"/>
            <a:ext cx="420624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1" name="kpi-card"/>
          <p:cNvSpPr/>
          <p:nvPr/>
        </p:nvSpPr>
        <p:spPr>
          <a:xfrm>
            <a:off x="411480" y="3072384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2" name="kpi-txt"/>
          <p:cNvSpPr/>
          <p:nvPr/>
        </p:nvSpPr>
        <p:spPr>
          <a:xfrm>
            <a:off x="457200" y="3163824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91C1C"/>
                </a:solidFill>
                <a:latin typeface="Segoe UI"/>
              </a:rPr>
              <a:t>£6,214.80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21 unpaid invoices</a:t>
            </a:r>
          </a:p>
        </p:txBody>
      </p:sp>
      <p:sp>
        <p:nvSpPr>
          <p:cNvPr id="134" name="kpi-strip"/>
          <p:cNvSpPr/>
          <p:nvPr/>
        </p:nvSpPr>
        <p:spPr>
          <a:xfrm>
            <a:off x="411480" y="4105656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5" name="kpi-card"/>
          <p:cNvSpPr/>
          <p:nvPr/>
        </p:nvSpPr>
        <p:spPr>
          <a:xfrm>
            <a:off x="411480" y="4105656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6" name="kpi-txt"/>
          <p:cNvSpPr/>
          <p:nvPr/>
        </p:nvSpPr>
        <p:spPr>
          <a:xfrm>
            <a:off x="457200" y="4197096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avg 53.9 days to payment</a:t>
            </a:r>
          </a:p>
        </p:txBody>
      </p:sp>
      <p:sp>
        <p:nvSpPr>
          <p:cNvPr id="142" name="callout"/>
          <p:cNvSpPr/>
          <p:nvPr/>
        </p:nvSpPr>
        <p:spPr>
          <a:xfrm>
            <a:off x="4937760" y="5212080"/>
            <a:ext cx="6858000" cy="1005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E40AF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3" name="callout-txt"/>
          <p:cNvSpPr/>
          <p:nvPr/>
        </p:nvSpPr>
        <p:spPr>
          <a:xfrm>
            <a:off x="5047488" y="5285232"/>
            <a:ext cx="6638544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£32,834.40 of £39,049.20 invoiced value has been collected (84.1%). £6,214.80 (15.9%) remains outstanding — all of it in the 2026 invoice cohort.</a:t>
            </a:r>
          </a:p>
        </p:txBody>
      </p:sp>
      <p:sp>
        <p:nvSpPr>
          <p:cNvPr id="1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5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BUSINESS HAVE WE GENERATED?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Year-wise Financial Performance</a:t>
            </a:r>
          </a:p>
        </p:txBody>
      </p:sp>
      <p:sp>
        <p:nvSpPr>
          <p:cNvPr id="158" name="sh"/>
          <p:cNvSpPr/>
          <p:nvPr/>
        </p:nvSpPr>
        <p:spPr>
          <a:xfrm>
            <a:off x="8001000" y="10058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Observations</a:t>
            </a:r>
          </a:p>
        </p:txBody>
      </p:sp>
      <p:sp>
        <p:nvSpPr>
          <p:cNvPr id="162" name="obs"/>
          <p:cNvSpPr/>
          <p:nvPr/>
        </p:nvSpPr>
        <p:spPr>
          <a:xfrm>
            <a:off x="8001000" y="1371600"/>
            <a:ext cx="3794760" cy="4023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2025 was the highest-revenue year: £14,566.80 across 49 invoices.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2023—2025 cohorts are 100% collected; 2026 collection stands at 50.9%.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Invoiced value grew strongly 2023 to 2025, then moderated in 2026 (£12,669.60).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All outstanding (£6,214.80) was generated by 2026 invoices — driven by the monthly retainer run.</a:t>
            </a:r>
          </a:p>
        </p:txBody>
      </p:sp>
      <p:sp>
        <p:nvSpPr>
          <p:cNvPr id="16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6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6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BUSINESS ACQUISITION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Project &amp; Client Growth</a:t>
            </a:r>
          </a:p>
        </p:txBody>
      </p:sp>
      <p:sp>
        <p:nvSpPr>
          <p:cNvPr id="178" name="kpi-strip"/>
          <p:cNvSpPr/>
          <p:nvPr/>
        </p:nvSpPr>
        <p:spPr>
          <a:xfrm>
            <a:off x="7452360" y="1005840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79" name="kpi-card"/>
          <p:cNvSpPr/>
          <p:nvPr/>
        </p:nvSpPr>
        <p:spPr>
          <a:xfrm>
            <a:off x="7452360" y="1005840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0" name="kpi-txt"/>
          <p:cNvSpPr/>
          <p:nvPr/>
        </p:nvSpPr>
        <p:spPr>
          <a:xfrm>
            <a:off x="7498080" y="1097280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</p:txBody>
      </p:sp>
      <p:sp>
        <p:nvSpPr>
          <p:cNvPr id="182" name="kpi-strip"/>
          <p:cNvSpPr/>
          <p:nvPr/>
        </p:nvSpPr>
        <p:spPr>
          <a:xfrm>
            <a:off x="7452360" y="2084832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3" name="kpi-card"/>
          <p:cNvSpPr/>
          <p:nvPr/>
        </p:nvSpPr>
        <p:spPr>
          <a:xfrm>
            <a:off x="7452360" y="2084832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4" name="kpi-txt"/>
          <p:cNvSpPr/>
          <p:nvPr/>
        </p:nvSpPr>
        <p:spPr>
          <a:xfrm>
            <a:off x="7498080" y="2176272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186" name="kpi-strip"/>
          <p:cNvSpPr/>
          <p:nvPr/>
        </p:nvSpPr>
        <p:spPr>
          <a:xfrm>
            <a:off x="7452360" y="3163824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7" name="kpi-card"/>
          <p:cNvSpPr/>
          <p:nvPr/>
        </p:nvSpPr>
        <p:spPr>
          <a:xfrm>
            <a:off x="7452360" y="3163824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8" name="kpi-txt"/>
          <p:cNvSpPr/>
          <p:nvPr/>
        </p:nvSpPr>
        <p:spPr>
          <a:xfrm>
            <a:off x="7498080" y="3255264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Repeat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4 of 4</a:t>
            </a:r>
          </a:p>
        </p:txBody>
      </p:sp>
      <p:sp>
        <p:nvSpPr>
          <p:cNvPr id="190" name="kpi-strip"/>
          <p:cNvSpPr/>
          <p:nvPr/>
        </p:nvSpPr>
        <p:spPr>
          <a:xfrm>
            <a:off x="7452360" y="4242816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1" name="kpi-card"/>
          <p:cNvSpPr/>
          <p:nvPr/>
        </p:nvSpPr>
        <p:spPr>
          <a:xfrm>
            <a:off x="7452360" y="4242816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2" name="kpi-txt"/>
          <p:cNvSpPr/>
          <p:nvPr/>
        </p:nvSpPr>
        <p:spPr>
          <a:xfrm>
            <a:off x="7498080" y="4334256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Avg Projects / Client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2.25</a:t>
            </a:r>
          </a:p>
        </p:txBody>
      </p:sp>
      <p:sp>
        <p:nvSpPr>
          <p:cNvPr id="194" name="callout"/>
          <p:cNvSpPr/>
          <p:nvPr/>
        </p:nvSpPr>
        <p:spPr>
          <a:xfrm>
            <a:off x="411480" y="5349240"/>
            <a:ext cx="11384280" cy="868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5" name="callout-txt"/>
          <p:cNvSpPr/>
          <p:nvPr/>
        </p:nvSpPr>
        <p:spPr>
          <a:xfrm>
            <a:off x="521208" y="5422392"/>
            <a:ext cx="11164824" cy="72237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All 4 clients appear across multiple years and receive recurring monthly retainer invoices — the business is entirely repeat/retainer-driven, with acquisition concentrated in 2024 (3 new clients, 6 new projects).</a:t>
            </a:r>
          </a:p>
        </p:txBody>
      </p:sp>
      <p:sp>
        <p:nvSpPr>
          <p:cNvPr id="19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0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03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IS THE REVENUE COMING FROM?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SEO vs Development Performance</a:t>
            </a:r>
          </a:p>
        </p:txBody>
      </p:sp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411480" y="1005840"/>
          <a:ext cx="7223760" cy="2798064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237744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SEO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Development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Projects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5 (invoice layer)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 PM / 4 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Invoices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Invoiced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£33,678.00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£5,371.20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£28,182.00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£4,652.40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Outstanding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£5,496.00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£718.80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Collection 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83.7%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86.6%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Actual Hours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no PM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Effort Value (@ £10/hr)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approx 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£5,368.50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4" name="callout"/>
          <p:cNvSpPr/>
          <p:nvPr/>
        </p:nvSpPr>
        <p:spPr>
          <a:xfrm>
            <a:off x="411480" y="5029200"/>
            <a:ext cx="11384280" cy="118872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15" name="callout-txt"/>
          <p:cNvSpPr/>
          <p:nvPr/>
        </p:nvSpPr>
        <p:spPr>
          <a:xfrm>
            <a:off x="521208" y="5102352"/>
            <a:ext cx="11164824" cy="104241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50">
                <a:solidFill>
                  <a:srgbClr val="1E3A8A"/>
                </a:solidFill>
                <a:latin typeface="Segoe UI"/>
              </a:rPr>
              <a:t>SEO generates 86% of invoiced revenue (£33,678.00) on monthly retainers, with solid collection (83.7%). Development is smaller in revenue (£5,371.20, 86.6% collection) but consumes 536h 51m of delivery effort — approx £5,368.50 at £10/hr — and only £1,917.60 of development-linked invoicing has been identified as paid.</a:t>
            </a:r>
          </a:p>
        </p:txBody>
      </p:sp>
      <p:sp>
        <p:nvSpPr>
          <p:cNvPr id="21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1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2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3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WORK HAVE WE ACTUALLY DELIVERED?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Development Effort Delivered</a:t>
            </a:r>
          </a:p>
        </p:txBody>
      </p:sp>
      <p:sp>
        <p:nvSpPr>
          <p:cNvPr id="226" name="kpi-strip"/>
          <p:cNvSpPr/>
          <p:nvPr/>
        </p:nvSpPr>
        <p:spPr>
          <a:xfrm>
            <a:off x="411480" y="1005840"/>
            <a:ext cx="2706624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7" name="kpi-card"/>
          <p:cNvSpPr/>
          <p:nvPr/>
        </p:nvSpPr>
        <p:spPr>
          <a:xfrm>
            <a:off x="411480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28" name="kpi-txt"/>
          <p:cNvSpPr/>
          <p:nvPr/>
        </p:nvSpPr>
        <p:spPr>
          <a:xfrm>
            <a:off x="457200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Estimated Hours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64748B"/>
                </a:solidFill>
                <a:latin typeface="Segoe UI"/>
              </a:rPr>
              <a:t>367h 50m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8 projects</a:t>
            </a:r>
          </a:p>
        </p:txBody>
      </p:sp>
      <p:sp>
        <p:nvSpPr>
          <p:cNvPr id="230" name="kpi-strip"/>
          <p:cNvSpPr/>
          <p:nvPr/>
        </p:nvSpPr>
        <p:spPr>
          <a:xfrm>
            <a:off x="3300984" y="1005840"/>
            <a:ext cx="2706624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1" name="kpi-card"/>
          <p:cNvSpPr/>
          <p:nvPr/>
        </p:nvSpPr>
        <p:spPr>
          <a:xfrm>
            <a:off x="3300984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2" name="kpi-txt"/>
          <p:cNvSpPr/>
          <p:nvPr/>
        </p:nvSpPr>
        <p:spPr>
          <a:xfrm>
            <a:off x="3346704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Workload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45309"/>
                </a:solidFill>
                <a:latin typeface="Segoe UI"/>
              </a:rPr>
              <a:t>402h 37m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team of 5</a:t>
            </a:r>
          </a:p>
        </p:txBody>
      </p:sp>
      <p:sp>
        <p:nvSpPr>
          <p:cNvPr id="234" name="kpi-strip"/>
          <p:cNvSpPr/>
          <p:nvPr/>
        </p:nvSpPr>
        <p:spPr>
          <a:xfrm>
            <a:off x="6190488" y="1005840"/>
            <a:ext cx="2706624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5" name="kpi-card"/>
          <p:cNvSpPr/>
          <p:nvPr/>
        </p:nvSpPr>
        <p:spPr>
          <a:xfrm>
            <a:off x="6190488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6" name="kpi-txt"/>
          <p:cNvSpPr/>
          <p:nvPr/>
        </p:nvSpPr>
        <p:spPr>
          <a:xfrm>
            <a:off x="6236208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Actual Logged Hours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F46E5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reported total 536h 53m</a:t>
            </a:r>
          </a:p>
        </p:txBody>
      </p:sp>
      <p:sp>
        <p:nvSpPr>
          <p:cNvPr id="238" name="kpi-strip"/>
          <p:cNvSpPr/>
          <p:nvPr/>
        </p:nvSpPr>
        <p:spPr>
          <a:xfrm>
            <a:off x="9079992" y="1005840"/>
            <a:ext cx="2706624" cy="64008"/>
          </a:xfrm>
          <a:prstGeom prst="rect">
            <a:avLst/>
          </a:prstGeom>
          <a:solidFill>
            <a:srgbClr val="+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39" name="kpi-card"/>
          <p:cNvSpPr/>
          <p:nvPr/>
        </p:nvSpPr>
        <p:spPr>
          <a:xfrm>
            <a:off x="9079992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40" name="kpi-txt"/>
          <p:cNvSpPr/>
          <p:nvPr/>
        </p:nvSpPr>
        <p:spPr>
          <a:xfrm>
            <a:off x="9125712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Effort Overrun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+"/>
                </a:solidFill>
                <a:latin typeface="Segoe UI"/>
              </a:rPr>
              <a:t>+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169h 01m</a:t>
            </a:r>
          </a:p>
        </p:txBody>
      </p:sp>
      <p:sp>
        <p:nvSpPr>
          <p:cNvPr id="246" name="sh"/>
          <p:cNvSpPr/>
          <p:nvPr/>
        </p:nvSpPr>
        <p:spPr>
          <a:xfrm>
            <a:off x="7635240" y="22860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Interpretation</a:t>
            </a:r>
          </a:p>
        </p:txBody>
      </p:sp>
      <p:sp>
        <p:nvSpPr>
          <p:cNvPr id="250" name="obs2"/>
          <p:cNvSpPr/>
          <p:nvPr/>
        </p:nvSpPr>
        <p:spPr>
          <a:xfrm>
            <a:off x="7635240" y="265176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Actual logged effort is significantly above estimate: 536h 51m delivered vs 367h 50m estimated (+45.9%).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Logged time also exceeds planned workload by 134h 16m (133.3% utilisation).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 of 8 projects are over estimate — up to +275% (see Effort Variance slide).</a:t>
            </a:r>
          </a:p>
        </p:txBody>
      </p:sp>
      <p:sp>
        <p:nvSpPr>
          <p:cNvPr id="25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5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5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5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OF THAT WORK HAS BEEN FINANCIALLY RECOVERED?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Revenue vs Delivered Development Effort</a:t>
            </a:r>
          </a:p>
        </p:txBody>
      </p:sp>
      <p:sp>
        <p:nvSpPr>
          <p:cNvPr id="262" name="fl0"/>
          <p:cNvSpPr/>
          <p:nvPr/>
        </p:nvSpPr>
        <p:spPr>
          <a:xfrm>
            <a:off x="41148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66" name="flt0"/>
          <p:cNvSpPr/>
          <p:nvPr/>
        </p:nvSpPr>
        <p:spPr>
          <a:xfrm>
            <a:off x="54864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WORK DELIVERED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4F46E5"/>
                </a:solidFill>
                <a:latin typeface="Segoe UI"/>
              </a:rPr>
              <a:t>536h 51m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approx £5,368.50 @ £10/hr</a:t>
            </a:r>
          </a:p>
        </p:txBody>
      </p:sp>
      <p:sp>
        <p:nvSpPr>
          <p:cNvPr id="270" name="arr0"/>
          <p:cNvSpPr/>
          <p:nvPr/>
        </p:nvSpPr>
        <p:spPr>
          <a:xfrm>
            <a:off x="3776472" y="1600200"/>
            <a:ext cx="5029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74" name="fl1"/>
          <p:cNvSpPr/>
          <p:nvPr/>
        </p:nvSpPr>
        <p:spPr>
          <a:xfrm>
            <a:off x="448056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78" name="flt1"/>
          <p:cNvSpPr/>
          <p:nvPr/>
        </p:nvSpPr>
        <p:spPr>
          <a:xfrm>
            <a:off x="461772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BILLED (invoice identified)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B45309"/>
                </a:solidFill>
                <a:latin typeface="Segoe UI"/>
              </a:rPr>
              <a:t>177h 54m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£2,637.60 invoiced</a:t>
            </a:r>
          </a:p>
        </p:txBody>
      </p:sp>
      <p:sp>
        <p:nvSpPr>
          <p:cNvPr id="282" name="arr1"/>
          <p:cNvSpPr/>
          <p:nvPr/>
        </p:nvSpPr>
        <p:spPr>
          <a:xfrm>
            <a:off x="7845552" y="1600200"/>
            <a:ext cx="5029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86" name="fl2"/>
          <p:cNvSpPr/>
          <p:nvPr/>
        </p:nvSpPr>
        <p:spPr>
          <a:xfrm>
            <a:off x="854964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290" name="flt2"/>
          <p:cNvSpPr/>
          <p:nvPr/>
        </p:nvSpPr>
        <p:spPr>
          <a:xfrm>
            <a:off x="868680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PAID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15803D"/>
                </a:solidFill>
                <a:latin typeface="Segoe UI"/>
              </a:rPr>
              <a:t>122h 07m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£1,917.60 received</a:t>
            </a:r>
          </a:p>
        </p:txBody>
      </p:sp>
      <p:sp>
        <p:nvSpPr>
          <p:cNvPr id="298" name="sh"/>
          <p:cNvSpPr/>
          <p:nvPr/>
        </p:nvSpPr>
        <p:spPr>
          <a:xfrm>
            <a:off x="7452360" y="27432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The Recovery Gap</a:t>
            </a:r>
          </a:p>
        </p:txBody>
      </p:sp>
      <p:sp>
        <p:nvSpPr>
          <p:cNvPr id="302" name="gap"/>
          <p:cNvSpPr/>
          <p:nvPr/>
        </p:nvSpPr>
        <p:spPr>
          <a:xfrm>
            <a:off x="7452360" y="3108960"/>
            <a:ext cx="434340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 b="1">
                <a:solidFill>
                  <a:srgbClr val="B91C1C"/>
                </a:solidFill>
                <a:latin typeface="Segoe UI"/>
              </a:rPr>
              <a:t>DELIVERED BUT UNBILLED: 328h 55m (approx £3,289.17) — no invoice identified.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 b="1">
                <a:solidFill>
                  <a:srgbClr val="B45309"/>
                </a:solidFill>
                <a:latin typeface="Segoe UI"/>
              </a:rPr>
              <a:t>INVOICED BUT UNPAID: 55h 47m (approx £557.83) — invoice raised, payment pending.</a:t>
            </a:r>
          </a:p>
          <a:p>
            <a:pPr algn="l" marL="228600" indent="-228600">
              <a:buFont typeface="Arial"/>
              <a:buChar char="•"/>
            </a:pPr>
            <a:r>
              <a:rPr lang="en-GB" sz="1100">
                <a:solidFill>
                  <a:srgbClr val="475569"/>
                </a:solidFill>
                <a:latin typeface="Segoe UI"/>
              </a:rPr>
              <a:t>Awaiting verification: 30h 02m (Nomads Clothing) — excluded from unbilled until confirmed.</a:t>
            </a:r>
          </a:p>
        </p:txBody>
      </p:sp>
      <p:sp>
        <p:nvSpPr>
          <p:cNvPr id="30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0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0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1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FINANCIAL EXPOSURE OF DELIVERED WORK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Unrecovered Development Effort</a:t>
            </a:r>
          </a:p>
        </p:txBody>
      </p:sp>
      <p:sp>
        <p:nvSpPr>
          <p:cNvPr id="314" name="u0"/>
          <p:cNvSpPr/>
          <p:nvPr/>
        </p:nvSpPr>
        <p:spPr>
          <a:xfrm>
            <a:off x="4114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18" name="ut0"/>
          <p:cNvSpPr/>
          <p:nvPr/>
        </p:nvSpPr>
        <p:spPr>
          <a:xfrm>
            <a:off x="5943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B45309"/>
                </a:solidFill>
                <a:latin typeface="Segoe UI"/>
              </a:rPr>
              <a:t>UNBILLED DEVELOPMENT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B45309"/>
                </a:solidFill>
                <a:latin typeface="Segoe UI"/>
              </a:rPr>
              <a:t>328h 55m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£3,289.17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Delivered, no invoice identified</a:t>
            </a:r>
          </a:p>
        </p:txBody>
      </p:sp>
      <p:sp>
        <p:nvSpPr>
          <p:cNvPr id="322" name="u1"/>
          <p:cNvSpPr/>
          <p:nvPr/>
        </p:nvSpPr>
        <p:spPr>
          <a:xfrm>
            <a:off x="42976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26" name="ut1"/>
          <p:cNvSpPr/>
          <p:nvPr/>
        </p:nvSpPr>
        <p:spPr>
          <a:xfrm>
            <a:off x="44805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B91C1C"/>
                </a:solidFill>
                <a:latin typeface="Segoe UI"/>
              </a:rPr>
              <a:t>INVOICED BUT UNPAID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B91C1C"/>
                </a:solidFill>
                <a:latin typeface="Segoe UI"/>
              </a:rPr>
              <a:t>55h 47m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£557.83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Invoice raised, payment not received</a:t>
            </a:r>
          </a:p>
        </p:txBody>
      </p:sp>
      <p:sp>
        <p:nvSpPr>
          <p:cNvPr id="330" name="u2"/>
          <p:cNvSpPr/>
          <p:nvPr/>
        </p:nvSpPr>
        <p:spPr>
          <a:xfrm>
            <a:off x="81838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34" name="ut2"/>
          <p:cNvSpPr/>
          <p:nvPr/>
        </p:nvSpPr>
        <p:spPr>
          <a:xfrm>
            <a:off x="83667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0F172A"/>
                </a:solidFill>
                <a:latin typeface="Segoe UI"/>
              </a:rPr>
              <a:t>TOTAL UNRECOVERED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0F172A"/>
                </a:solidFill>
                <a:latin typeface="Segoe UI"/>
              </a:rPr>
              <a:t>384h 42m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£3,847.00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at £10/hr configurable rate</a:t>
            </a:r>
          </a:p>
        </p:txBody>
      </p:sp>
      <p:sp>
        <p:nvSpPr>
          <p:cNvPr id="338" name="callout"/>
          <p:cNvSpPr/>
          <p:nvPr/>
        </p:nvSpPr>
        <p:spPr>
          <a:xfrm>
            <a:off x="411480" y="3383280"/>
            <a:ext cx="11384280" cy="123444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39" name="callout-txt"/>
          <p:cNvSpPr/>
          <p:nvPr/>
        </p:nvSpPr>
        <p:spPr>
          <a:xfrm>
            <a:off x="521208" y="3456432"/>
            <a:ext cx="11164824" cy="10881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Development effort worth approx £3,847.00 (384h 42m) has been delivered without financial recovery. The largest component is unbilled work: NWT (144h 17m), Silver Street London (80h 55m) and Nomads Saige (67h 03m) have logged hours with no corresponding invoice. Unbilled effort is NOT an outstanding invoice — it becomes recoverable only once billed.</a:t>
            </a:r>
          </a:p>
        </p:txBody>
      </p:sp>
      <p:sp>
        <p:nvSpPr>
          <p:cNvPr id="342" name="brk"/>
          <p:cNvSpPr/>
          <p:nvPr/>
        </p:nvSpPr>
        <p:spPr>
          <a:xfrm>
            <a:off x="411480" y="4846320"/>
            <a:ext cx="1138428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Invoiced but unpaid sits with CATESBY ENGLAND (£720.00 outstanding of £1,200.00 invoiced, 92h 58m delivered).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Paid development work: Nomads Trade Website (84h 56m, £1,437.60 received in full).</a:t>
            </a:r>
          </a:p>
          <a:p>
            <a:pPr algn="l" marL="228600" indent="-228600">
              <a:buFont typeface="Arial"/>
              <a:buChar char="•"/>
            </a:pPr>
            <a:r>
              <a:rPr lang="en-GB" sz="1100">
                <a:solidFill>
                  <a:srgbClr val="475569"/>
                </a:solidFill>
                <a:latin typeface="Segoe UI"/>
              </a:rPr>
              <a:t>Hourly valuation is a management indicator (configurable rate), not an accounting figure.</a:t>
            </a:r>
          </a:p>
        </p:txBody>
      </p:sp>
      <p:sp>
        <p:nvSpPr>
          <p:cNvPr id="3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3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9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