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ableStyles" Target="tableStyles.xml"/><Relationship Id="rId10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OVERALL POSITION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74" name="kpi-strip"/>
          <p:cNvSpPr/>
          <p:nvPr/>
        </p:nvSpPr>
        <p:spPr>
          <a:xfrm>
            <a:off x="411480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5" name="kpi-card"/>
          <p:cNvSpPr/>
          <p:nvPr/>
        </p:nvSpPr>
        <p:spPr>
          <a:xfrm>
            <a:off x="411480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6" name="kpi-txt"/>
          <p:cNvSpPr/>
          <p:nvPr/>
        </p:nvSpPr>
        <p:spPr>
          <a:xfrm>
            <a:off x="457200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9 invoice-layer + 8 PM</a:t>
            </a:r>
          </a:p>
        </p:txBody>
      </p:sp>
      <p:sp>
        <p:nvSpPr>
          <p:cNvPr id="78" name="kpi-strip"/>
          <p:cNvSpPr/>
          <p:nvPr/>
        </p:nvSpPr>
        <p:spPr>
          <a:xfrm>
            <a:off x="3300984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9" name="kpi-card"/>
          <p:cNvSpPr/>
          <p:nvPr/>
        </p:nvSpPr>
        <p:spPr>
          <a:xfrm>
            <a:off x="3300984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0" name="kpi-txt"/>
          <p:cNvSpPr/>
          <p:nvPr/>
        </p:nvSpPr>
        <p:spPr>
          <a:xfrm>
            <a:off x="3346704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82" name="kpi-strip"/>
          <p:cNvSpPr/>
          <p:nvPr/>
        </p:nvSpPr>
        <p:spPr>
          <a:xfrm>
            <a:off x="6190488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3" name="kpi-card"/>
          <p:cNvSpPr/>
          <p:nvPr/>
        </p:nvSpPr>
        <p:spPr>
          <a:xfrm>
            <a:off x="6190488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4" name="kpi-txt"/>
          <p:cNvSpPr/>
          <p:nvPr/>
        </p:nvSpPr>
        <p:spPr>
          <a:xfrm>
            <a:off x="6236208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125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125 unique IDs</a:t>
            </a:r>
          </a:p>
        </p:txBody>
      </p:sp>
      <p:sp>
        <p:nvSpPr>
          <p:cNvPr id="86" name="kpi-strip"/>
          <p:cNvSpPr/>
          <p:nvPr/>
        </p:nvSpPr>
        <p:spPr>
          <a:xfrm>
            <a:off x="9079992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7" name="kpi-card"/>
          <p:cNvSpPr/>
          <p:nvPr/>
        </p:nvSpPr>
        <p:spPr>
          <a:xfrm>
            <a:off x="9079992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8" name="kpi-txt"/>
          <p:cNvSpPr/>
          <p:nvPr/>
        </p:nvSpPr>
        <p:spPr>
          <a:xfrm>
            <a:off x="9125712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incl. VAT</a:t>
            </a:r>
          </a:p>
        </p:txBody>
      </p:sp>
      <p:sp>
        <p:nvSpPr>
          <p:cNvPr id="90" name="kpi-strip"/>
          <p:cNvSpPr/>
          <p:nvPr/>
        </p:nvSpPr>
        <p:spPr>
          <a:xfrm>
            <a:off x="411480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1" name="kpi-card"/>
          <p:cNvSpPr/>
          <p:nvPr/>
        </p:nvSpPr>
        <p:spPr>
          <a:xfrm>
            <a:off x="411480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2" name="kpi-txt"/>
          <p:cNvSpPr/>
          <p:nvPr/>
        </p:nvSpPr>
        <p:spPr>
          <a:xfrm>
            <a:off x="457200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</a:t>
            </a:r>
          </a:p>
        </p:txBody>
      </p:sp>
      <p:sp>
        <p:nvSpPr>
          <p:cNvPr id="94" name="kpi-strip"/>
          <p:cNvSpPr/>
          <p:nvPr/>
        </p:nvSpPr>
        <p:spPr>
          <a:xfrm>
            <a:off x="3300984" y="2039112"/>
            <a:ext cx="2706624" cy="64008"/>
          </a:xfrm>
          <a:prstGeom prst="rect">
            <a:avLst/>
          </a:prstGeom>
          <a:solidFill>
            <a:srgbClr val=" of invoice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5" name="kpi-card"/>
          <p:cNvSpPr/>
          <p:nvPr/>
        </p:nvSpPr>
        <p:spPr>
          <a:xfrm>
            <a:off x="3300984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6" name="kpi-txt"/>
          <p:cNvSpPr/>
          <p:nvPr/>
        </p:nvSpPr>
        <p:spPr>
          <a:xfrm>
            <a:off x="3346704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 of invoiced"/>
                </a:solidFill>
                <a:latin typeface="Segoe UI"/>
              </a:rPr>
              <a:t>£6,215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15.9%</a:t>
            </a:r>
          </a:p>
        </p:txBody>
      </p:sp>
      <p:sp>
        <p:nvSpPr>
          <p:cNvPr id="98" name="kpi-strip"/>
          <p:cNvSpPr/>
          <p:nvPr/>
        </p:nvSpPr>
        <p:spPr>
          <a:xfrm>
            <a:off x="6190488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9" name="kpi-card"/>
          <p:cNvSpPr/>
          <p:nvPr/>
        </p:nvSpPr>
        <p:spPr>
          <a:xfrm>
            <a:off x="6190488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0" name="kpi-txt"/>
          <p:cNvSpPr/>
          <p:nvPr/>
        </p:nvSpPr>
        <p:spPr>
          <a:xfrm>
            <a:off x="6236208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</p:txBody>
      </p:sp>
      <p:sp>
        <p:nvSpPr>
          <p:cNvPr id="102" name="kpi-strip"/>
          <p:cNvSpPr/>
          <p:nvPr/>
        </p:nvSpPr>
        <p:spPr>
          <a:xfrm>
            <a:off x="9079992" y="2039112"/>
            <a:ext cx="2706624" cy="64008"/>
          </a:xfrm>
          <a:prstGeom prst="rect">
            <a:avLst/>
          </a:prstGeom>
          <a:solidFill>
            <a:srgbClr val="45.9%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3" name="kpi-card"/>
          <p:cNvSpPr/>
          <p:nvPr/>
        </p:nvSpPr>
        <p:spPr>
          <a:xfrm>
            <a:off x="9079992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4" name="kpi-txt"/>
          <p:cNvSpPr/>
          <p:nvPr/>
        </p:nvSpPr>
        <p:spPr>
          <a:xfrm>
            <a:off x="9125712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Dev Hours Delivered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5.9%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106" name="sh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Insights</a:t>
            </a:r>
          </a:p>
        </p:txBody>
      </p:sp>
      <p:sp>
        <p:nvSpPr>
          <p:cNvPr id="110" name="ins"/>
          <p:cNvSpPr/>
          <p:nvPr/>
        </p:nvSpPr>
        <p:spPr>
          <a:xfrm>
            <a:off x="411480" y="3566160"/>
            <a:ext cx="11375136" cy="2834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Collection position: Â£32,834.40 of Â£39,049.20 invoiced value collected (84.1%); Â£6,214.80 (15.9%) remains outstanding.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SEO is the largest service line: Â£33,678.00 invoiced (86.2% of total) vs Development Â£5,371.20.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Patrick Shoes Limited is the top client (Â£17,312.40, 44.3% of revenue) and also carries the highest unpaid exposure (Â£1,196.40).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Development delivery is significantly over estimate: 536h 51m logged vs 367h 50m estimated (+45.9%).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328h 55m of development effort (approx Â£3,289.17 at Â£10/hr) has no identified invoice â€” a billing gap.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 invoices totalling Â£5,496.00 are past due; the oldest unpaid invoice is 194 days past its due date (SUPERHOUSE (UK) LIMITED).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2023-2025 cohorts are 100% collected; the entire outstanding balance sits in the 2026 invoice cohort (Â£6,214.80).</a:t>
            </a:r>
          </a:p>
        </p:txBody>
      </p:sp>
      <p:sp>
        <p:nvSpPr>
          <p:cNvPr id="11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1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1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19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WHAT IS OUR OVERALL POSITION?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Financial Performance Overview</a:t>
            </a:r>
          </a:p>
        </p:txBody>
      </p:sp>
      <p:sp>
        <p:nvSpPr>
          <p:cNvPr id="122" name="kpi-strip"/>
          <p:cNvSpPr/>
          <p:nvPr/>
        </p:nvSpPr>
        <p:spPr>
          <a:xfrm>
            <a:off x="411480" y="1005840"/>
            <a:ext cx="4206240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23" name="kpi-card"/>
          <p:cNvSpPr/>
          <p:nvPr/>
        </p:nvSpPr>
        <p:spPr>
          <a:xfrm>
            <a:off x="411480" y="1005840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24" name="kpi-txt"/>
          <p:cNvSpPr/>
          <p:nvPr/>
        </p:nvSpPr>
        <p:spPr>
          <a:xfrm>
            <a:off x="457200" y="1097280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£39,049.20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net £32,541.00 + VAT £6,508.20</a:t>
            </a:r>
          </a:p>
        </p:txBody>
      </p:sp>
      <p:sp>
        <p:nvSpPr>
          <p:cNvPr id="126" name="kpi-strip"/>
          <p:cNvSpPr/>
          <p:nvPr/>
        </p:nvSpPr>
        <p:spPr>
          <a:xfrm>
            <a:off x="411480" y="2039112"/>
            <a:ext cx="4206240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27" name="kpi-card"/>
          <p:cNvSpPr/>
          <p:nvPr/>
        </p:nvSpPr>
        <p:spPr>
          <a:xfrm>
            <a:off x="411480" y="2039112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28" name="kpi-txt"/>
          <p:cNvSpPr/>
          <p:nvPr/>
        </p:nvSpPr>
        <p:spPr>
          <a:xfrm>
            <a:off x="457200" y="2130552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£32,834.40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104 paid invoices</a:t>
            </a:r>
          </a:p>
        </p:txBody>
      </p:sp>
      <p:sp>
        <p:nvSpPr>
          <p:cNvPr id="130" name="kpi-strip"/>
          <p:cNvSpPr/>
          <p:nvPr/>
        </p:nvSpPr>
        <p:spPr>
          <a:xfrm>
            <a:off x="411480" y="3072384"/>
            <a:ext cx="4206240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31" name="kpi-card"/>
          <p:cNvSpPr/>
          <p:nvPr/>
        </p:nvSpPr>
        <p:spPr>
          <a:xfrm>
            <a:off x="411480" y="3072384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32" name="kpi-txt"/>
          <p:cNvSpPr/>
          <p:nvPr/>
        </p:nvSpPr>
        <p:spPr>
          <a:xfrm>
            <a:off x="457200" y="3163824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B91C1C"/>
                </a:solidFill>
                <a:latin typeface="Segoe UI"/>
              </a:rPr>
              <a:t>£6,214.80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21 unpaid invoices</a:t>
            </a:r>
          </a:p>
        </p:txBody>
      </p:sp>
      <p:sp>
        <p:nvSpPr>
          <p:cNvPr id="134" name="kpi-strip"/>
          <p:cNvSpPr/>
          <p:nvPr/>
        </p:nvSpPr>
        <p:spPr>
          <a:xfrm>
            <a:off x="411480" y="4105656"/>
            <a:ext cx="4206240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35" name="kpi-card"/>
          <p:cNvSpPr/>
          <p:nvPr/>
        </p:nvSpPr>
        <p:spPr>
          <a:xfrm>
            <a:off x="411480" y="4105656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36" name="kpi-txt"/>
          <p:cNvSpPr/>
          <p:nvPr/>
        </p:nvSpPr>
        <p:spPr>
          <a:xfrm>
            <a:off x="457200" y="4197096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avg 53.9 days to payment</a:t>
            </a:r>
          </a:p>
        </p:txBody>
      </p:sp>
      <p:sp>
        <p:nvSpPr>
          <p:cNvPr id="142" name="callout"/>
          <p:cNvSpPr/>
          <p:nvPr/>
        </p:nvSpPr>
        <p:spPr>
          <a:xfrm>
            <a:off x="4937760" y="5212080"/>
            <a:ext cx="6858000" cy="100584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1E40AF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43" name="callout-txt"/>
          <p:cNvSpPr/>
          <p:nvPr/>
        </p:nvSpPr>
        <p:spPr>
          <a:xfrm>
            <a:off x="5047488" y="5285232"/>
            <a:ext cx="6638544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200">
                <a:solidFill>
                  <a:srgbClr val="1E3A8A"/>
                </a:solidFill>
                <a:latin typeface="Segoe UI"/>
              </a:rPr>
              <a:t>£32,834.40 of £39,049.20 invoiced value has been collected (84.1%). £6,214.80 (15.9%) remains outstanding — all of it in the 2026 invoice cohort.</a:t>
            </a:r>
          </a:p>
        </p:txBody>
      </p:sp>
      <p:sp>
        <p:nvSpPr>
          <p:cNvPr id="14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4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4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3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PresentationFormat>Widescreen</PresentationFormat>
  <Slides>2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Invoice, Project &amp; Development Effort Analysis</dc:title>
  <dc:subject>Management Review 2023 - Present</dc:subject>
  <dc:creator>Business Analysis</dc:creator>
  <cp:lastModifiedBy>Business Analysis</cp:lastModifiedBy>
  <dcterms:created xsi:type="dcterms:W3CDTF">2026-08-19T09:00:00Z</dcterms:created>
  <dcterms:modified xsi:type="dcterms:W3CDTF">2026-08-19T09:00:00Z</dcterms:modified>
</cp:coreProperties>
</file>